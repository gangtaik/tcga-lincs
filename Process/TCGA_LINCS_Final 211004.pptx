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0" r:id="rId5"/>
    <p:sldId id="285" r:id="rId6"/>
    <p:sldId id="284" r:id="rId7"/>
    <p:sldId id="295" r:id="rId8"/>
    <p:sldId id="297" r:id="rId9"/>
    <p:sldId id="296" r:id="rId10"/>
    <p:sldId id="298" r:id="rId11"/>
    <p:sldId id="299" r:id="rId12"/>
    <p:sldId id="288" r:id="rId13"/>
    <p:sldId id="289" r:id="rId14"/>
    <p:sldId id="290" r:id="rId15"/>
    <p:sldId id="291" r:id="rId16"/>
    <p:sldId id="292" r:id="rId17"/>
    <p:sldId id="269" r:id="rId18"/>
    <p:sldId id="300" r:id="rId19"/>
    <p:sldId id="301" r:id="rId20"/>
    <p:sldId id="293" r:id="rId21"/>
    <p:sldId id="294" r:id="rId22"/>
    <p:sldId id="302" r:id="rId23"/>
    <p:sldId id="30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83417" autoAdjust="0"/>
  </p:normalViewPr>
  <p:slideViewPr>
    <p:cSldViewPr snapToGrid="0">
      <p:cViewPr varScale="1">
        <p:scale>
          <a:sx n="71" d="100"/>
          <a:sy n="71" d="100"/>
        </p:scale>
        <p:origin x="12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E95B1C-A4BB-4CB8-B27D-D5641A5FA8D8}" type="datetimeFigureOut">
              <a:rPr lang="en-GB" smtClean="0"/>
              <a:t>04/10/2021</a:t>
            </a:fld>
            <a:endParaRPr lang="en-GB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GB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2A53D-51AE-443A-B782-F5ED4328D4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379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985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468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614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368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62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573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986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3350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73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600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194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9001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754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6021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200" dirty="0">
                <a:sym typeface="+mn-ea"/>
              </a:rPr>
              <a:t>Index, input file </a:t>
            </a:r>
            <a:r>
              <a:rPr lang="ko-KR" altLang="en-US" sz="1200" dirty="0">
                <a:sym typeface="+mn-ea"/>
              </a:rPr>
              <a:t>경로가 지정되어있음</a:t>
            </a:r>
            <a:endParaRPr lang="en-GB" altLang="en-US" sz="1200" dirty="0">
              <a:sym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4786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507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200" dirty="0">
              <a:sym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3171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2A53D-51AE-443A-B782-F5ED4328D44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2829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GB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85F9-F0F4-4FD4-B71B-26478FDBBF7E}" type="datetimeFigureOut">
              <a:rPr lang="en-GB" smtClean="0"/>
              <a:t>04/10/2021</a:t>
            </a:fld>
            <a:endParaRPr lang="en-GB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AAFA3-7CE1-4BB9-BD29-2A7AD3D1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687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GB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85F9-F0F4-4FD4-B71B-26478FDBBF7E}" type="datetimeFigureOut">
              <a:rPr lang="en-GB" smtClean="0"/>
              <a:t>04/10/2021</a:t>
            </a:fld>
            <a:endParaRPr lang="en-GB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AAFA3-7CE1-4BB9-BD29-2A7AD3D1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043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85F9-F0F4-4FD4-B71B-26478FDBBF7E}" type="datetimeFigureOut">
              <a:rPr lang="en-GB" smtClean="0"/>
              <a:t>04/10/2021</a:t>
            </a:fld>
            <a:endParaRPr lang="en-GB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AAFA3-7CE1-4BB9-BD29-2A7AD3D1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125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GB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GB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85F9-F0F4-4FD4-B71B-26478FDBBF7E}" type="datetimeFigureOut">
              <a:rPr lang="en-GB" smtClean="0"/>
              <a:t>04/10/2021</a:t>
            </a:fld>
            <a:endParaRPr lang="en-GB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AAFA3-7CE1-4BB9-BD29-2A7AD3D1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57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GB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GB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85F9-F0F4-4FD4-B71B-26478FDBBF7E}" type="datetimeFigureOut">
              <a:rPr lang="en-GB" smtClean="0"/>
              <a:t>04/10/2021</a:t>
            </a:fld>
            <a:endParaRPr lang="en-GB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AAFA3-7CE1-4BB9-BD29-2A7AD3D1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182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85F9-F0F4-4FD4-B71B-26478FDBBF7E}" type="datetimeFigureOut">
              <a:rPr lang="en-GB" smtClean="0"/>
              <a:t>04/10/2021</a:t>
            </a:fld>
            <a:endParaRPr lang="en-GB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AAFA3-7CE1-4BB9-BD29-2A7AD3D1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559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85F9-F0F4-4FD4-B71B-26478FDBBF7E}" type="datetimeFigureOut">
              <a:rPr lang="en-GB" smtClean="0"/>
              <a:t>04/10/2021</a:t>
            </a:fld>
            <a:endParaRPr lang="en-GB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AAFA3-7CE1-4BB9-BD29-2A7AD3D1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293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GB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85F9-F0F4-4FD4-B71B-26478FDBBF7E}" type="datetimeFigureOut">
              <a:rPr lang="en-GB" smtClean="0"/>
              <a:t>04/10/2021</a:t>
            </a:fld>
            <a:endParaRPr lang="en-GB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AAFA3-7CE1-4BB9-BD29-2A7AD3D1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34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85F9-F0F4-4FD4-B71B-26478FDBBF7E}" type="datetimeFigureOut">
              <a:rPr lang="en-GB" smtClean="0"/>
              <a:t>04/10/2021</a:t>
            </a:fld>
            <a:endParaRPr lang="en-GB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AAFA3-7CE1-4BB9-BD29-2A7AD3D1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05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GB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85F9-F0F4-4FD4-B71B-26478FDBBF7E}" type="datetimeFigureOut">
              <a:rPr lang="en-GB" smtClean="0"/>
              <a:t>04/10/2021</a:t>
            </a:fld>
            <a:endParaRPr lang="en-GB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AAFA3-7CE1-4BB9-BD29-2A7AD3D1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798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GB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85F9-F0F4-4FD4-B71B-26478FDBBF7E}" type="datetimeFigureOut">
              <a:rPr lang="en-GB" smtClean="0"/>
              <a:t>04/10/2021</a:t>
            </a:fld>
            <a:endParaRPr lang="en-GB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AAFA3-7CE1-4BB9-BD29-2A7AD3D1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800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GB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A85F9-F0F4-4FD4-B71B-26478FDBBF7E}" type="datetimeFigureOut">
              <a:rPr lang="en-GB" smtClean="0"/>
              <a:t>04/10/2021</a:t>
            </a:fld>
            <a:endParaRPr lang="en-GB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AAFA3-7CE1-4BB9-BD29-2A7AD3D1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718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TCGA LINCS Data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80516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TCGA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90805" y="300799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/>
              <a:t>TCGA </a:t>
            </a:r>
          </a:p>
          <a:p>
            <a:pPr algn="ctr"/>
            <a:r>
              <a:rPr lang="en-US" altLang="en-US"/>
              <a:t>Raw 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82545" y="336486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805" y="254762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/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6600" y="300799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/>
              <a:t>Withdrawn, duplicate제거</a:t>
            </a:r>
          </a:p>
          <a:p>
            <a:pPr algn="ctr"/>
            <a:r>
              <a:rPr lang="en-US" altLang="en-US"/>
              <a:t>(duplicate : Max of the Mean expressed gene)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68340" y="336486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76600" y="254762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/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62395" y="300799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/>
              <a:t>Tumor, Recurrent, Metastatic, Normal로 나누어 저장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54135" y="336486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462395" y="254762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/>
              <a:t>Step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7555" y="300799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/>
              <a:t>Tumor, Normal만 이용 하나의 데이터 완성</a:t>
            </a:r>
          </a:p>
          <a:p>
            <a:pPr algn="ctr"/>
            <a:r>
              <a:rPr lang="en-US" altLang="en-US"/>
              <a:t>(</a:t>
            </a:r>
            <a:r>
              <a:rPr lang="en-US" altLang="en-US">
                <a:sym typeface="+mn-ea"/>
              </a:rPr>
              <a:t>20,440 X 1,211)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7555" y="254762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/>
              <a:t>Step 4</a:t>
            </a:r>
          </a:p>
        </p:txBody>
      </p:sp>
    </p:spTree>
    <p:extLst>
      <p:ext uri="{BB962C8B-B14F-4D97-AF65-F5344CB8AC3E}">
        <p14:creationId xmlns:p14="http://schemas.microsoft.com/office/powerpoint/2010/main" val="280240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LINCS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300164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/>
              <a:t>LINCS Raw 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83180" y="335851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1440" y="254127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/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7235" y="300164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/>
              <a:t>Withdrawn, duplicate제거</a:t>
            </a:r>
          </a:p>
          <a:p>
            <a:pPr algn="ctr"/>
            <a:r>
              <a:rPr lang="en-US" altLang="en-US"/>
              <a:t>(duplicate : Max of the Mean expressed gene)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68975" y="335851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77235" y="254127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/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63030" y="300164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>
                <a:sym typeface="+mn-ea"/>
              </a:rPr>
              <a:t>중복된 실험 합침.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(같은 Cell line, 같은 농도, 시간)</a:t>
            </a:r>
            <a:endParaRPr lang="en-US" altLang="en-US"/>
          </a:p>
        </p:txBody>
      </p:sp>
      <p:sp>
        <p:nvSpPr>
          <p:cNvPr id="14" name="Right Arrow 13"/>
          <p:cNvSpPr/>
          <p:nvPr/>
        </p:nvSpPr>
        <p:spPr>
          <a:xfrm>
            <a:off x="8954770" y="3358515"/>
            <a:ext cx="570230" cy="972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463030" y="254127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/>
              <a:t>Step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8190" y="3001645"/>
            <a:ext cx="2367280" cy="168592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>
                <a:sym typeface="+mn-ea"/>
              </a:rPr>
              <a:t>원하는 Cell line에 대한 데이터와 약물별로 따로 저장</a:t>
            </a:r>
          </a:p>
          <a:p>
            <a:pPr algn="ctr"/>
            <a:r>
              <a:rPr lang="en-US" altLang="en-US">
                <a:sym typeface="+mn-ea"/>
              </a:rPr>
              <a:t>(Entrez + mRNA Exp)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8190" y="2541270"/>
            <a:ext cx="2367280" cy="46037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/>
              <a:t>Step 4</a:t>
            </a:r>
          </a:p>
        </p:txBody>
      </p:sp>
    </p:spTree>
    <p:extLst>
      <p:ext uri="{BB962C8B-B14F-4D97-AF65-F5344CB8AC3E}">
        <p14:creationId xmlns:p14="http://schemas.microsoft.com/office/powerpoint/2010/main" val="2599625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TCGA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359243"/>
            <a:ext cx="11169147" cy="481772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" altLang="en-US" sz="1600" dirty="0">
                <a:sym typeface="+mn-ea"/>
              </a:rPr>
              <a:t>Raw file</a:t>
            </a:r>
            <a:r>
              <a:rPr lang="ko-KR" altLang="en-US" sz="1600" dirty="0">
                <a:sym typeface="+mn-ea"/>
              </a:rPr>
              <a:t>의 </a:t>
            </a:r>
            <a:r>
              <a:rPr lang="en-US" altLang="ko-KR" sz="1600" dirty="0">
                <a:sym typeface="+mn-ea"/>
              </a:rPr>
              <a:t>row, col</a:t>
            </a:r>
            <a:r>
              <a:rPr lang="ko-KR" altLang="en-US" sz="1600" dirty="0">
                <a:sym typeface="+mn-ea"/>
              </a:rPr>
              <a:t>개수 출력</a:t>
            </a:r>
            <a:r>
              <a:rPr lang="en-US" altLang="ko-KR" sz="1600" dirty="0">
                <a:sym typeface="+mn-ea"/>
              </a:rPr>
              <a:t>. TCGA </a:t>
            </a:r>
            <a:r>
              <a:rPr lang="ko-KR" altLang="en-US" sz="1600" dirty="0">
                <a:sym typeface="+mn-ea"/>
              </a:rPr>
              <a:t>폴더별 </a:t>
            </a:r>
            <a:r>
              <a:rPr lang="en-US" altLang="ko-KR" sz="1600" dirty="0">
                <a:sym typeface="+mn-ea"/>
              </a:rPr>
              <a:t>M,N,T </a:t>
            </a:r>
            <a:r>
              <a:rPr lang="ko-KR" altLang="en-US" sz="1600" dirty="0">
                <a:sym typeface="+mn-ea"/>
              </a:rPr>
              <a:t>개수출력</a:t>
            </a:r>
            <a:r>
              <a:rPr lang="en-US" altLang="ko-KR" sz="1600" dirty="0">
                <a:sym typeface="+mn-ea"/>
              </a:rPr>
              <a:t>.</a:t>
            </a: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Zeta server</a:t>
            </a:r>
            <a:endParaRPr lang="" altLang="en-US" sz="1600" dirty="0">
              <a:sym typeface="+mn-ea"/>
            </a:endParaRPr>
          </a:p>
          <a:p>
            <a:pPr marL="0" indent="0">
              <a:buNone/>
            </a:pPr>
            <a:r>
              <a:rPr lang="" altLang="en-US" sz="1600" dirty="0">
                <a:sym typeface="+mn-ea"/>
              </a:rPr>
              <a:t>Path : /</a:t>
            </a:r>
            <a:r>
              <a:rPr lang="en-GB" altLang="en-US" sz="1600" dirty="0">
                <a:sym typeface="+mn-ea"/>
              </a:rPr>
              <a:t>home/arajo0707/TCGA_LINCS/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File:TCGA_ncol_nrow.sh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Command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./TCGA_ncol_nrow.sh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Input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/home/arajo0707/TCGA_LINCS/TCGA_X/{Cancer name}/TCGA_RNA-</a:t>
            </a:r>
            <a:r>
              <a:rPr lang="en-GB" altLang="en-US" sz="1600" dirty="0" err="1">
                <a:sym typeface="+mn-ea"/>
              </a:rPr>
              <a:t>Seq</a:t>
            </a:r>
            <a:r>
              <a:rPr lang="en-GB" altLang="en-US" sz="1600" dirty="0">
                <a:sym typeface="+mn-ea"/>
              </a:rPr>
              <a:t>_{Cancer name}_N.txt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/home/arajo0707/TCGA_LINCS/TCGA_X/{Cancer name}/TCGA_RNA-</a:t>
            </a:r>
            <a:r>
              <a:rPr lang="en-GB" altLang="en-US" sz="1600" dirty="0" err="1">
                <a:sym typeface="+mn-ea"/>
              </a:rPr>
              <a:t>Seq</a:t>
            </a:r>
            <a:r>
              <a:rPr lang="en-GB" altLang="en-US" sz="1600" dirty="0">
                <a:sym typeface="+mn-ea"/>
              </a:rPr>
              <a:t>_{Cancer name}_T.txt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Index file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TCGA_preprocess</a:t>
            </a:r>
            <a:r>
              <a:rPr lang="en-US" altLang="en-US" sz="1600" dirty="0">
                <a:sym typeface="+mn-ea"/>
              </a:rPr>
              <a:t>/index_sorted_descending.txt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Output data</a:t>
            </a:r>
          </a:p>
          <a:p>
            <a:pPr marL="0" indent="0">
              <a:buNone/>
            </a:pPr>
            <a:r>
              <a:rPr lang="" altLang="en-US" sz="1600" dirty="0">
                <a:sym typeface="+mn-ea"/>
              </a:rPr>
              <a:t>/</a:t>
            </a:r>
            <a:r>
              <a:rPr lang="en-GB" altLang="en-US" sz="1600" dirty="0">
                <a:sym typeface="+mn-ea"/>
              </a:rPr>
              <a:t>home/arajo0707/TCGA_LINCS/</a:t>
            </a:r>
            <a:r>
              <a:rPr lang="en-US" altLang="en-US" sz="1600" dirty="0">
                <a:sym typeface="+mn-ea"/>
              </a:rPr>
              <a:t> nrow.txt</a:t>
            </a:r>
            <a:endParaRPr lang="en-GB" altLang="en-US" sz="16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8964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54" y="1359242"/>
            <a:ext cx="10146493" cy="48840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TCGA data </a:t>
            </a:r>
          </a:p>
        </p:txBody>
      </p:sp>
    </p:spTree>
    <p:extLst>
      <p:ext uri="{BB962C8B-B14F-4D97-AF65-F5344CB8AC3E}">
        <p14:creationId xmlns:p14="http://schemas.microsoft.com/office/powerpoint/2010/main" val="2279624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TCGA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75095" y="1386303"/>
            <a:ext cx="11169147" cy="52727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" altLang="en-US" sz="2000" dirty="0">
                <a:sym typeface="+mn-ea"/>
              </a:rPr>
              <a:t>HiSeq.gz</a:t>
            </a:r>
          </a:p>
          <a:p>
            <a:pPr marL="0" indent="0">
              <a:buNone/>
            </a:pPr>
            <a:endParaRPr lang="" altLang="en-US" sz="2000" dirty="0">
              <a:sym typeface="+mn-ea"/>
            </a:endParaRPr>
          </a:p>
          <a:p>
            <a:pPr marL="0" indent="0">
              <a:buNone/>
            </a:pPr>
            <a:endParaRPr lang="" altLang="en-US" sz="2000" dirty="0">
              <a:sym typeface="+mn-ea"/>
            </a:endParaRPr>
          </a:p>
          <a:p>
            <a:pPr marL="0" indent="0">
              <a:buNone/>
            </a:pPr>
            <a:endParaRPr lang="" altLang="en-US" sz="2000" dirty="0">
              <a:sym typeface="+mn-ea"/>
            </a:endParaRPr>
          </a:p>
          <a:p>
            <a:pPr marL="0" indent="0">
              <a:buNone/>
            </a:pPr>
            <a:endParaRPr lang="" altLang="en-US" sz="2000" dirty="0">
              <a:sym typeface="+mn-ea"/>
            </a:endParaRPr>
          </a:p>
          <a:p>
            <a:pPr marL="0" indent="0">
              <a:buNone/>
            </a:pPr>
            <a:endParaRPr lang="" altLang="en-US" sz="2000" dirty="0">
              <a:sym typeface="+mn-ea"/>
            </a:endParaRPr>
          </a:p>
          <a:p>
            <a:pPr marL="0" indent="0">
              <a:buNone/>
            </a:pPr>
            <a:endParaRPr lang="" altLang="en-US" sz="2000" dirty="0">
              <a:sym typeface="+mn-ea"/>
            </a:endParaRPr>
          </a:p>
          <a:p>
            <a:pPr marL="0" indent="0">
              <a:buNone/>
            </a:pPr>
            <a:endParaRPr lang="" altLang="en-US" sz="2000" dirty="0">
              <a:sym typeface="+mn-ea"/>
            </a:endParaRPr>
          </a:p>
          <a:p>
            <a:pPr marL="0" indent="0">
              <a:buNone/>
            </a:pPr>
            <a:endParaRPr lang="" altLang="en-US" sz="2000" dirty="0">
              <a:sym typeface="+mn-ea"/>
            </a:endParaRPr>
          </a:p>
          <a:p>
            <a:pPr marL="0" indent="0">
              <a:buNone/>
            </a:pPr>
            <a:endParaRPr lang="" altLang="en-US" sz="2000" dirty="0">
              <a:sym typeface="+mn-ea"/>
            </a:endParaRPr>
          </a:p>
          <a:p>
            <a:pPr marL="0" indent="0">
              <a:buNone/>
            </a:pPr>
            <a:r>
              <a:rPr lang="" altLang="en-US" sz="2000" dirty="0">
                <a:sym typeface="+mn-ea"/>
              </a:rPr>
              <a:t>Malignant / Normal/ Tumor </a:t>
            </a:r>
            <a:r>
              <a:rPr lang="ko-KR" altLang="en-US" sz="2000" dirty="0" err="1">
                <a:sym typeface="+mn-ea"/>
              </a:rPr>
              <a:t>파일모습</a:t>
            </a:r>
            <a:endParaRPr lang="" altLang="en-US" sz="2000" dirty="0">
              <a:sym typeface="+mn-ea"/>
            </a:endParaRPr>
          </a:p>
          <a:p>
            <a:pPr marL="0" indent="0">
              <a:buNone/>
            </a:pPr>
            <a:r>
              <a:rPr lang="en-US" altLang="ko-KR" sz="2000" dirty="0" err="1">
                <a:sym typeface="+mn-ea"/>
              </a:rPr>
              <a:t>WithDrawn</a:t>
            </a:r>
            <a:r>
              <a:rPr lang="en-US" altLang="ko-KR" sz="2000" dirty="0">
                <a:sym typeface="+mn-ea"/>
              </a:rPr>
              <a:t> : 23</a:t>
            </a:r>
            <a:r>
              <a:rPr lang="ko-KR" altLang="en-US" sz="2000" dirty="0">
                <a:sym typeface="+mn-ea"/>
              </a:rPr>
              <a:t>개</a:t>
            </a:r>
            <a:r>
              <a:rPr lang="en-US" altLang="ko-KR" sz="2000" dirty="0">
                <a:sym typeface="+mn-ea"/>
              </a:rPr>
              <a:t>, Duplicate : 67</a:t>
            </a:r>
            <a:r>
              <a:rPr lang="ko-KR" altLang="en-US" sz="2000" dirty="0">
                <a:sym typeface="+mn-ea"/>
              </a:rPr>
              <a:t>개 </a:t>
            </a:r>
            <a:r>
              <a:rPr lang="en-US" altLang="ko-KR" sz="2000" dirty="0">
                <a:sym typeface="+mn-ea"/>
              </a:rPr>
              <a:t>(90)</a:t>
            </a:r>
          </a:p>
          <a:p>
            <a:pPr marL="0" indent="0">
              <a:buNone/>
            </a:pPr>
            <a:r>
              <a:rPr lang="en-US" altLang="ko-KR" sz="2000" dirty="0">
                <a:sym typeface="+mn-ea"/>
              </a:rPr>
              <a:t>20530*1218 (20440*1218)</a:t>
            </a:r>
          </a:p>
          <a:p>
            <a:pPr marL="0" indent="0">
              <a:buNone/>
            </a:pPr>
            <a:r>
              <a:rPr lang="en-US" altLang="ko-KR" sz="2000" dirty="0">
                <a:sym typeface="+mn-ea"/>
              </a:rPr>
              <a:t>M </a:t>
            </a:r>
            <a:r>
              <a:rPr lang="ko-KR" altLang="en-US" sz="2000" dirty="0">
                <a:sym typeface="+mn-ea"/>
              </a:rPr>
              <a:t>실제 </a:t>
            </a:r>
            <a:r>
              <a:rPr lang="ko-KR" altLang="en-US" sz="2000" dirty="0" err="1">
                <a:sym typeface="+mn-ea"/>
              </a:rPr>
              <a:t>행열갯수</a:t>
            </a:r>
            <a:r>
              <a:rPr lang="en-US" altLang="ko-KR" sz="2000" dirty="0">
                <a:sym typeface="+mn-ea"/>
              </a:rPr>
              <a:t>(20440 * 7)</a:t>
            </a:r>
          </a:p>
          <a:p>
            <a:pPr marL="0" indent="0">
              <a:buNone/>
            </a:pPr>
            <a:r>
              <a:rPr lang="en-US" altLang="ko-KR" sz="2000" dirty="0">
                <a:sym typeface="+mn-ea"/>
              </a:rPr>
              <a:t>N </a:t>
            </a:r>
            <a:r>
              <a:rPr lang="ko-KR" altLang="en-US" sz="2000" dirty="0">
                <a:sym typeface="+mn-ea"/>
              </a:rPr>
              <a:t>실제 </a:t>
            </a:r>
            <a:r>
              <a:rPr lang="ko-KR" altLang="en-US" sz="2000" dirty="0" err="1">
                <a:sym typeface="+mn-ea"/>
              </a:rPr>
              <a:t>행열갯수</a:t>
            </a:r>
            <a:r>
              <a:rPr lang="en-US" altLang="ko-KR" sz="2000" dirty="0">
                <a:sym typeface="+mn-ea"/>
              </a:rPr>
              <a:t>(20440 * 114)</a:t>
            </a:r>
          </a:p>
          <a:p>
            <a:pPr marL="0" indent="0">
              <a:buNone/>
            </a:pPr>
            <a:r>
              <a:rPr lang="en-US" altLang="ko-KR" sz="2000" dirty="0">
                <a:sym typeface="+mn-ea"/>
              </a:rPr>
              <a:t>T </a:t>
            </a:r>
            <a:r>
              <a:rPr lang="ko-KR" altLang="en-US" sz="2000" dirty="0">
                <a:sym typeface="+mn-ea"/>
              </a:rPr>
              <a:t>실제 </a:t>
            </a:r>
            <a:r>
              <a:rPr lang="ko-KR" altLang="en-US" sz="2000" dirty="0" err="1">
                <a:sym typeface="+mn-ea"/>
              </a:rPr>
              <a:t>행열갯수</a:t>
            </a:r>
            <a:r>
              <a:rPr lang="en-US" altLang="ko-KR" sz="2000" dirty="0">
                <a:sym typeface="+mn-ea"/>
              </a:rPr>
              <a:t>(20440 * 1097)</a:t>
            </a:r>
          </a:p>
          <a:p>
            <a:pPr marL="0" indent="0">
              <a:buNone/>
            </a:pPr>
            <a:endParaRPr lang="" altLang="en-US" sz="2000" dirty="0">
              <a:sym typeface="+mn-ea"/>
            </a:endParaRPr>
          </a:p>
          <a:p>
            <a:pPr marL="0" indent="0">
              <a:buNone/>
            </a:pPr>
            <a:endParaRPr lang="" altLang="en-US" sz="2000" dirty="0">
              <a:sym typeface="+mn-ea"/>
            </a:endParaRPr>
          </a:p>
          <a:p>
            <a:pPr marL="0" indent="0">
              <a:buNone/>
            </a:pPr>
            <a:endParaRPr lang="" altLang="en-US" sz="2000" dirty="0">
              <a:sym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952430"/>
              </p:ext>
            </p:extLst>
          </p:nvPr>
        </p:nvGraphicFramePr>
        <p:xfrm>
          <a:off x="206710" y="2514877"/>
          <a:ext cx="10461288" cy="1106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774">
                  <a:extLst>
                    <a:ext uri="{9D8B030D-6E8A-4147-A177-3AD203B41FA5}">
                      <a16:colId xmlns:a16="http://schemas.microsoft.com/office/drawing/2014/main" val="1424235494"/>
                    </a:ext>
                  </a:extLst>
                </a:gridCol>
                <a:gridCol w="871774">
                  <a:extLst>
                    <a:ext uri="{9D8B030D-6E8A-4147-A177-3AD203B41FA5}">
                      <a16:colId xmlns:a16="http://schemas.microsoft.com/office/drawing/2014/main" val="249155492"/>
                    </a:ext>
                  </a:extLst>
                </a:gridCol>
                <a:gridCol w="871774">
                  <a:extLst>
                    <a:ext uri="{9D8B030D-6E8A-4147-A177-3AD203B41FA5}">
                      <a16:colId xmlns:a16="http://schemas.microsoft.com/office/drawing/2014/main" val="739817792"/>
                    </a:ext>
                  </a:extLst>
                </a:gridCol>
                <a:gridCol w="871774">
                  <a:extLst>
                    <a:ext uri="{9D8B030D-6E8A-4147-A177-3AD203B41FA5}">
                      <a16:colId xmlns:a16="http://schemas.microsoft.com/office/drawing/2014/main" val="1387162483"/>
                    </a:ext>
                  </a:extLst>
                </a:gridCol>
                <a:gridCol w="871774">
                  <a:extLst>
                    <a:ext uri="{9D8B030D-6E8A-4147-A177-3AD203B41FA5}">
                      <a16:colId xmlns:a16="http://schemas.microsoft.com/office/drawing/2014/main" val="1775060781"/>
                    </a:ext>
                  </a:extLst>
                </a:gridCol>
                <a:gridCol w="871774">
                  <a:extLst>
                    <a:ext uri="{9D8B030D-6E8A-4147-A177-3AD203B41FA5}">
                      <a16:colId xmlns:a16="http://schemas.microsoft.com/office/drawing/2014/main" val="3187627413"/>
                    </a:ext>
                  </a:extLst>
                </a:gridCol>
                <a:gridCol w="871774">
                  <a:extLst>
                    <a:ext uri="{9D8B030D-6E8A-4147-A177-3AD203B41FA5}">
                      <a16:colId xmlns:a16="http://schemas.microsoft.com/office/drawing/2014/main" val="1258066657"/>
                    </a:ext>
                  </a:extLst>
                </a:gridCol>
                <a:gridCol w="871774">
                  <a:extLst>
                    <a:ext uri="{9D8B030D-6E8A-4147-A177-3AD203B41FA5}">
                      <a16:colId xmlns:a16="http://schemas.microsoft.com/office/drawing/2014/main" val="1069219674"/>
                    </a:ext>
                  </a:extLst>
                </a:gridCol>
                <a:gridCol w="871774">
                  <a:extLst>
                    <a:ext uri="{9D8B030D-6E8A-4147-A177-3AD203B41FA5}">
                      <a16:colId xmlns:a16="http://schemas.microsoft.com/office/drawing/2014/main" val="2653755613"/>
                    </a:ext>
                  </a:extLst>
                </a:gridCol>
                <a:gridCol w="871774">
                  <a:extLst>
                    <a:ext uri="{9D8B030D-6E8A-4147-A177-3AD203B41FA5}">
                      <a16:colId xmlns:a16="http://schemas.microsoft.com/office/drawing/2014/main" val="4236895532"/>
                    </a:ext>
                  </a:extLst>
                </a:gridCol>
                <a:gridCol w="871774">
                  <a:extLst>
                    <a:ext uri="{9D8B030D-6E8A-4147-A177-3AD203B41FA5}">
                      <a16:colId xmlns:a16="http://schemas.microsoft.com/office/drawing/2014/main" val="2479303224"/>
                    </a:ext>
                  </a:extLst>
                </a:gridCol>
                <a:gridCol w="871774">
                  <a:extLst>
                    <a:ext uri="{9D8B030D-6E8A-4147-A177-3AD203B41FA5}">
                      <a16:colId xmlns:a16="http://schemas.microsoft.com/office/drawing/2014/main" val="1150402329"/>
                    </a:ext>
                  </a:extLst>
                </a:gridCol>
              </a:tblGrid>
              <a:tr h="411256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전체파일이름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dirty="0" err="1"/>
                        <a:t>열갯수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 err="1"/>
                        <a:t>헤더포함</a:t>
                      </a:r>
                      <a:r>
                        <a:rPr lang="en-US" altLang="ko-KR" sz="1100" dirty="0"/>
                        <a:t>)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dirty="0" err="1"/>
                        <a:t>행갯수</a:t>
                      </a:r>
                      <a:r>
                        <a:rPr lang="en-US" altLang="ko-KR" sz="1100" dirty="0"/>
                        <a:t>(</a:t>
                      </a:r>
                      <a:r>
                        <a:rPr lang="en-US" altLang="ko-KR" sz="1100" dirty="0" err="1"/>
                        <a:t>rowname</a:t>
                      </a:r>
                      <a:r>
                        <a:rPr lang="en-US" altLang="ko-KR" sz="1100" baseline="0" dirty="0"/>
                        <a:t> </a:t>
                      </a:r>
                      <a:r>
                        <a:rPr lang="ko-KR" altLang="en-US" sz="1100" baseline="0" dirty="0"/>
                        <a:t>행포함</a:t>
                      </a:r>
                      <a:r>
                        <a:rPr lang="en-US" altLang="ko-KR" sz="1100" baseline="0" dirty="0"/>
                        <a:t>)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분할파일이름 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dirty="0" err="1"/>
                        <a:t>열갯수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dirty="0" err="1"/>
                        <a:t>행갯수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분할파일이름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dirty="0" err="1"/>
                        <a:t>열갯수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dirty="0" err="1"/>
                        <a:t>행갯수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분할파일이름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dirty="0" err="1"/>
                        <a:t>열갯수</a:t>
                      </a:r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100" dirty="0" err="1"/>
                        <a:t>행갯수</a:t>
                      </a:r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3840"/>
                  </a:ext>
                </a:extLst>
              </a:tr>
              <a:tr h="480627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HiSeqV2.gz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TCGA_RNA-Seq_BRCA_M.txt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20442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TCGA_RNA-Seq_BRCA_N.txt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20442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TCGA_RNA-Seq_BRCA_T.txt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20442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3981433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10" y="1667791"/>
            <a:ext cx="6719348" cy="78444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rcRect r="72966"/>
          <a:stretch/>
        </p:blipFill>
        <p:spPr>
          <a:xfrm>
            <a:off x="206710" y="3814584"/>
            <a:ext cx="2683609" cy="72060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/>
          <a:srcRect r="28547"/>
          <a:stretch/>
        </p:blipFill>
        <p:spPr>
          <a:xfrm>
            <a:off x="3084922" y="3814584"/>
            <a:ext cx="2674746" cy="74572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6"/>
          <a:srcRect t="1" r="14877" b="4760"/>
          <a:stretch/>
        </p:blipFill>
        <p:spPr>
          <a:xfrm>
            <a:off x="5954271" y="3878817"/>
            <a:ext cx="4126952" cy="73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8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TCGA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ym typeface="+mn-ea"/>
              </a:rPr>
              <a:t>과정</a:t>
            </a:r>
            <a:r>
              <a:rPr lang="en-US" altLang="ko-KR" sz="1600" dirty="0">
                <a:sym typeface="+mn-ea"/>
              </a:rPr>
              <a:t>1:  TCGA </a:t>
            </a:r>
            <a:r>
              <a:rPr lang="en-US" altLang="ko-KR" sz="1600" dirty="0" err="1">
                <a:sym typeface="+mn-ea"/>
              </a:rPr>
              <a:t>HTseq</a:t>
            </a:r>
            <a:r>
              <a:rPr lang="ko-KR" altLang="en-US" sz="1600" dirty="0">
                <a:sym typeface="+mn-ea"/>
              </a:rPr>
              <a:t>파일을  </a:t>
            </a:r>
            <a:r>
              <a:rPr lang="en-US" altLang="ko-KR" sz="1600" dirty="0">
                <a:sym typeface="+mn-ea"/>
              </a:rPr>
              <a:t>N(normal), T(tumor), M(malignant) </a:t>
            </a:r>
            <a:r>
              <a:rPr lang="ko-KR" altLang="en-US" sz="1600" dirty="0">
                <a:sym typeface="+mn-ea"/>
              </a:rPr>
              <a:t>으로 분리하는 과정 </a:t>
            </a:r>
            <a:endParaRPr lang="en-US" altLang="ko-KR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Zeta server</a:t>
            </a:r>
            <a:endParaRPr lang="" altLang="en-US" sz="1600" dirty="0">
              <a:sym typeface="+mn-ea"/>
            </a:endParaRPr>
          </a:p>
          <a:p>
            <a:pPr marL="0" indent="0">
              <a:buNone/>
            </a:pPr>
            <a:r>
              <a:rPr lang="" altLang="en-US" sz="1600" dirty="0">
                <a:sym typeface="+mn-ea"/>
              </a:rPr>
              <a:t>Path : </a:t>
            </a:r>
            <a:r>
              <a:rPr lang="en-GB" altLang="en-US" sz="1600" dirty="0">
                <a:sym typeface="+mn-ea"/>
              </a:rPr>
              <a:t>/home/arajo0707/TCGA_LINCS/</a:t>
            </a:r>
            <a:r>
              <a:rPr lang="en-GB" altLang="en-US" sz="1600" dirty="0" err="1">
                <a:sym typeface="+mn-ea"/>
              </a:rPr>
              <a:t>TCGA_preprocess</a:t>
            </a:r>
            <a:r>
              <a:rPr lang="en-GB" altLang="en-US" sz="1600" dirty="0">
                <a:sym typeface="+mn-ea"/>
              </a:rPr>
              <a:t>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File: step1_TCGA_preprocess.R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Command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Rscript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step1_TCGA_preprocess.R ./ BRCA T TCGA_RNA-Seq_BRCA_T.txt ./TCGA_mapping.txt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Rscript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TCGA_Sample_filter.R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{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TCGA_directory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} {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TCGA_cancer_name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} {T,M,R,N} {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Output_filename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} {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gene_index_file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Input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/home/arajo0707/TCGA_LINCS/TCGA_X/{Cancer name}/TCGA_RNA-</a:t>
            </a:r>
            <a:r>
              <a:rPr lang="en-GB" altLang="en-US" sz="1600" dirty="0" err="1">
                <a:sym typeface="+mn-ea"/>
              </a:rPr>
              <a:t>Seq</a:t>
            </a:r>
            <a:r>
              <a:rPr lang="en-GB" altLang="en-US" sz="1600" dirty="0">
                <a:sym typeface="+mn-ea"/>
              </a:rPr>
              <a:t>_{Cancer name}_N.txt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/home/arajo0707/TCGA_LINCS/TCGA_X/{Cancer name}/TCGA_RNA-</a:t>
            </a:r>
            <a:r>
              <a:rPr lang="en-GB" altLang="en-US" sz="1600" dirty="0" err="1">
                <a:sym typeface="+mn-ea"/>
              </a:rPr>
              <a:t>Seq</a:t>
            </a:r>
            <a:r>
              <a:rPr lang="en-GB" altLang="en-US" sz="1600" dirty="0">
                <a:sym typeface="+mn-ea"/>
              </a:rPr>
              <a:t>_{Cancer name}_T.txt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Index file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TCGA_preprocess</a:t>
            </a:r>
            <a:r>
              <a:rPr lang="en-US" altLang="en-US" sz="1600" dirty="0">
                <a:sym typeface="+mn-ea"/>
              </a:rPr>
              <a:t>/index_sorted_descending.txt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Output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/home/arajo0707/TCGA_LINCS/TCGA_X/{Cancer name}/TCGA_RNA-</a:t>
            </a:r>
            <a:r>
              <a:rPr lang="en-GB" altLang="en-US" sz="1600" dirty="0" err="1">
                <a:sym typeface="+mn-ea"/>
              </a:rPr>
              <a:t>Seq</a:t>
            </a:r>
            <a:r>
              <a:rPr lang="en-GB" altLang="en-US" sz="1600" dirty="0">
                <a:sym typeface="+mn-ea"/>
              </a:rPr>
              <a:t>_{Cancer name}_N.txt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/home/arajo0707/TCGA_LINCS/TCGA_X/{Cancer name}/TCGA_RNA-</a:t>
            </a:r>
            <a:r>
              <a:rPr lang="en-GB" altLang="en-US" sz="1600" dirty="0" err="1">
                <a:sym typeface="+mn-ea"/>
              </a:rPr>
              <a:t>Seq</a:t>
            </a:r>
            <a:r>
              <a:rPr lang="en-GB" altLang="en-US" sz="1600" dirty="0">
                <a:sym typeface="+mn-ea"/>
              </a:rPr>
              <a:t>_{Cancer name}_T.txt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42277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TCGA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ym typeface="+mn-ea"/>
              </a:rPr>
              <a:t>과정</a:t>
            </a:r>
            <a:r>
              <a:rPr lang="en-US" altLang="ko-KR" sz="1600" dirty="0">
                <a:sym typeface="+mn-ea"/>
              </a:rPr>
              <a:t>2:  TCGA</a:t>
            </a:r>
            <a:r>
              <a:rPr lang="ko-KR" altLang="en-US" sz="1600" dirty="0">
                <a:sym typeface="+mn-ea"/>
              </a:rPr>
              <a:t>데이터를 추출하여 </a:t>
            </a:r>
            <a:r>
              <a:rPr lang="en-US" altLang="ko-KR" sz="1600" dirty="0">
                <a:sym typeface="+mn-ea"/>
              </a:rPr>
              <a:t>GSVA package </a:t>
            </a:r>
            <a:r>
              <a:rPr lang="en-US" altLang="ko-KR" sz="1600" dirty="0" err="1">
                <a:sym typeface="+mn-ea"/>
              </a:rPr>
              <a:t>ssgsea</a:t>
            </a:r>
            <a:r>
              <a:rPr lang="ko-KR" altLang="en-US" sz="1600" dirty="0">
                <a:sym typeface="+mn-ea"/>
              </a:rPr>
              <a:t>분석</a:t>
            </a:r>
            <a:endParaRPr lang="en-US" altLang="ko-KR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Zeta server</a:t>
            </a: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" altLang="en-US" sz="1600" dirty="0">
                <a:sym typeface="+mn-ea"/>
              </a:rPr>
              <a:t>Path : </a:t>
            </a:r>
            <a:r>
              <a:rPr lang="en-GB" altLang="en-US" sz="1600" dirty="0">
                <a:sym typeface="+mn-ea"/>
              </a:rPr>
              <a:t>/home/arajo0707/TCGA_LINCS</a:t>
            </a:r>
            <a:r>
              <a:rPr lang="en-US" altLang="en-US" sz="1600" dirty="0">
                <a:sym typeface="+mn-ea"/>
              </a:rPr>
              <a:t>/</a:t>
            </a:r>
            <a:r>
              <a:rPr lang="en-US" altLang="en-US" sz="1600" dirty="0" err="1">
                <a:sym typeface="+mn-ea"/>
              </a:rPr>
              <a:t>TCGA_preprocess</a:t>
            </a:r>
            <a:r>
              <a:rPr lang="en-US" altLang="en-US" sz="1600" dirty="0">
                <a:sym typeface="+mn-ea"/>
              </a:rPr>
              <a:t>/step2_TCGA_ssGSEA.R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File: step2_TCGA_ssGSEA.R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Command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Rscript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step2_TCGA_GSVA.R ./tft_benchmark_symbol_10TG.txt ../TCGA_X ./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ssgsea</a:t>
            </a:r>
            <a:endParaRPr lang="en-US" altLang="en-US"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Rscript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step2_TCGA_GSVA.R {TF-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target_gene_files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} {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drug_subset_path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} {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output_path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Input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/home/arajo0707/TCGA_LINCS/TCGA_X/{Cancer name}/TCGA_RNA-</a:t>
            </a:r>
            <a:r>
              <a:rPr lang="en-GB" altLang="en-US" sz="1600" dirty="0" err="1">
                <a:sym typeface="+mn-ea"/>
              </a:rPr>
              <a:t>Seq</a:t>
            </a:r>
            <a:r>
              <a:rPr lang="en-GB" altLang="en-US" sz="1600" dirty="0">
                <a:sym typeface="+mn-ea"/>
              </a:rPr>
              <a:t>_{Cancer name}_N.txt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/home/arajo0707/TCGA_LINCS/TCGA_X/{Cancer name}/TCGA_RNA-</a:t>
            </a:r>
            <a:r>
              <a:rPr lang="en-GB" altLang="en-US" sz="1600" dirty="0" err="1">
                <a:sym typeface="+mn-ea"/>
              </a:rPr>
              <a:t>Seq</a:t>
            </a:r>
            <a:r>
              <a:rPr lang="en-GB" altLang="en-US" sz="1600" dirty="0">
                <a:sym typeface="+mn-ea"/>
              </a:rPr>
              <a:t>_{Cancer name}_T.txt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Index file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TCGA_preprocess</a:t>
            </a:r>
            <a:r>
              <a:rPr lang="en-US" altLang="en-US" sz="1600" dirty="0">
                <a:sym typeface="+mn-ea"/>
              </a:rPr>
              <a:t>/index_sorted_descending.txt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Output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TCGA_preprocess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ssgsea</a:t>
            </a:r>
            <a:r>
              <a:rPr lang="en-GB" altLang="en-US" sz="1600" dirty="0">
                <a:sym typeface="+mn-ea"/>
              </a:rPr>
              <a:t>/TCGA_{Cancer name}_full.txt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TCGA_preprocess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ssgsea</a:t>
            </a:r>
            <a:r>
              <a:rPr lang="en-GB" altLang="en-US" sz="1600" dirty="0">
                <a:sym typeface="+mn-ea"/>
              </a:rPr>
              <a:t>/TCGA_{Cancer name}_ssGSEA.txt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TCGA_preprocess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ssgsea</a:t>
            </a:r>
            <a:r>
              <a:rPr lang="en-GB" altLang="en-US" sz="1600" dirty="0">
                <a:sym typeface="+mn-ea"/>
              </a:rPr>
              <a:t>/TCGA_{Cancer name}_ssGSEA_z-score.txt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6590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TCGA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400" dirty="0">
                <a:sym typeface="+mn-ea"/>
              </a:rPr>
              <a:t>Zeta server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400" dirty="0">
                <a:sym typeface="+mn-ea"/>
              </a:rPr>
              <a:t>Input: </a:t>
            </a:r>
            <a:r>
              <a:rPr lang="en-GB" altLang="en-US" sz="1400" dirty="0">
                <a:sym typeface="+mn-ea"/>
              </a:rPr>
              <a:t>/home/arajo0707/TCGA_LINCS/TCGA_X/{Cancer name}/TCGA_RNA-</a:t>
            </a:r>
            <a:r>
              <a:rPr lang="en-GB" altLang="en-US" sz="1400" dirty="0" err="1">
                <a:sym typeface="+mn-ea"/>
              </a:rPr>
              <a:t>Seq</a:t>
            </a:r>
            <a:r>
              <a:rPr lang="en-GB" altLang="en-US" sz="1400" dirty="0">
                <a:sym typeface="+mn-ea"/>
              </a:rPr>
              <a:t>_{Cancer name}_N.txt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400" dirty="0">
                <a:sym typeface="+mn-ea"/>
              </a:rPr>
              <a:t>Output :  /home/arajo0707/TCGA_LINCS/</a:t>
            </a:r>
            <a:r>
              <a:rPr lang="en-US" altLang="en-US" sz="1400" dirty="0" err="1">
                <a:sym typeface="+mn-ea"/>
              </a:rPr>
              <a:t>TCGA_preprocess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ssgsea</a:t>
            </a:r>
            <a:r>
              <a:rPr lang="en-GB" altLang="en-US" sz="1400" dirty="0">
                <a:sym typeface="+mn-ea"/>
              </a:rPr>
              <a:t>/TCGA_{Cancer name}_full.txt  (GSVA </a:t>
            </a:r>
            <a:r>
              <a:rPr lang="ko-KR" altLang="en-US" sz="1400" dirty="0">
                <a:sym typeface="+mn-ea"/>
              </a:rPr>
              <a:t>함수에 들어가는 </a:t>
            </a:r>
            <a:r>
              <a:rPr lang="ko-KR" altLang="en-US" sz="1400" dirty="0" err="1">
                <a:sym typeface="+mn-ea"/>
              </a:rPr>
              <a:t>인풋파일</a:t>
            </a:r>
            <a:r>
              <a:rPr lang="en-US" altLang="ko-KR" sz="1400" dirty="0">
                <a:sym typeface="+mn-ea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400" dirty="0">
                <a:sym typeface="+mn-ea"/>
              </a:rPr>
              <a:t>/home/arajo0707/TCGA_LINCS/</a:t>
            </a:r>
            <a:r>
              <a:rPr lang="en-US" altLang="en-US" sz="1400" dirty="0" err="1">
                <a:sym typeface="+mn-ea"/>
              </a:rPr>
              <a:t>TCGA_preprocess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ssgsea</a:t>
            </a:r>
            <a:r>
              <a:rPr lang="en-GB" altLang="en-US" sz="1400" dirty="0">
                <a:sym typeface="+mn-ea"/>
              </a:rPr>
              <a:t>/TCGA_{Cancer name}_ssGSEA.txt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400" dirty="0">
                <a:sym typeface="+mn-ea"/>
              </a:rPr>
              <a:t>/home/arajo0707/TCGA_LINCS/</a:t>
            </a:r>
            <a:r>
              <a:rPr lang="en-US" altLang="en-US" sz="1400" dirty="0" err="1">
                <a:sym typeface="+mn-ea"/>
              </a:rPr>
              <a:t>TCGA_preprocess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ssgsea</a:t>
            </a:r>
            <a:r>
              <a:rPr lang="en-GB" altLang="en-US" sz="1400" dirty="0">
                <a:sym typeface="+mn-ea"/>
              </a:rPr>
              <a:t>/TCGA_{Cancer name}_ssGSEA_z-score.txt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endParaRPr lang="" altLang="en-US" sz="1400" dirty="0">
              <a:sym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02" y="2020424"/>
            <a:ext cx="4099900" cy="54811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301" y="2898275"/>
            <a:ext cx="4474811" cy="54506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301" y="3750372"/>
            <a:ext cx="6457950" cy="5715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301" y="4628223"/>
            <a:ext cx="5067300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85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TCGA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ym typeface="+mn-ea"/>
              </a:rPr>
              <a:t>과정</a:t>
            </a:r>
            <a:r>
              <a:rPr lang="en-GB" altLang="ko-KR" sz="1600" dirty="0">
                <a:sym typeface="+mn-ea"/>
              </a:rPr>
              <a:t>3</a:t>
            </a:r>
            <a:r>
              <a:rPr lang="en-US" altLang="ko-KR" sz="1600" dirty="0">
                <a:sym typeface="+mn-ea"/>
              </a:rPr>
              <a:t>:  </a:t>
            </a:r>
            <a:r>
              <a:rPr lang="en-US" altLang="ko-KR" sz="1600" dirty="0" err="1">
                <a:sym typeface="+mn-ea"/>
              </a:rPr>
              <a:t>ssgsea</a:t>
            </a:r>
            <a:r>
              <a:rPr lang="ko-KR" altLang="en-US" sz="1600" dirty="0">
                <a:sym typeface="+mn-ea"/>
              </a:rPr>
              <a:t>분석이 완료된 </a:t>
            </a:r>
            <a:r>
              <a:rPr lang="en-US" altLang="ko-KR" sz="1600" dirty="0">
                <a:sym typeface="+mn-ea"/>
              </a:rPr>
              <a:t>TCGA</a:t>
            </a:r>
            <a:r>
              <a:rPr lang="ko-KR" altLang="en-US" sz="1600" dirty="0">
                <a:sym typeface="+mn-ea"/>
              </a:rPr>
              <a:t>데이터를 가지고 </a:t>
            </a:r>
            <a:r>
              <a:rPr lang="en-US" altLang="ko-KR" sz="1600" dirty="0">
                <a:sym typeface="+mn-ea"/>
              </a:rPr>
              <a:t>TCGA score </a:t>
            </a:r>
            <a:r>
              <a:rPr lang="ko-KR" altLang="en-US" sz="1600" dirty="0">
                <a:sym typeface="+mn-ea"/>
              </a:rPr>
              <a:t>계산</a:t>
            </a:r>
            <a:endParaRPr lang="en-US" altLang="ko-KR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Zeta server</a:t>
            </a: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" altLang="en-US" sz="1600" dirty="0">
                <a:sym typeface="+mn-ea"/>
              </a:rPr>
              <a:t>Path : </a:t>
            </a:r>
            <a:r>
              <a:rPr lang="en-GB" altLang="en-US" sz="1600" dirty="0">
                <a:sym typeface="+mn-ea"/>
              </a:rPr>
              <a:t>/home/arajo0707/TCGA_LINCS</a:t>
            </a:r>
            <a:r>
              <a:rPr lang="en-US" altLang="en-US" sz="1600" dirty="0">
                <a:sym typeface="+mn-ea"/>
              </a:rPr>
              <a:t>/</a:t>
            </a:r>
            <a:r>
              <a:rPr lang="en-US" altLang="en-US" sz="1600" dirty="0" err="1">
                <a:sym typeface="+mn-ea"/>
              </a:rPr>
              <a:t>TCGA_preprocess</a:t>
            </a:r>
            <a:r>
              <a:rPr lang="en-US" altLang="en-US" sz="1600" dirty="0">
                <a:sym typeface="+mn-ea"/>
              </a:rPr>
              <a:t>/step3_LINCS_ssGSEA.R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File: step3_TCGA_score.R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Command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Rscript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step3_TCGA_score.R ./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ssgsea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./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TCGA_score</a:t>
            </a:r>
            <a:endParaRPr lang="en-US" altLang="en-US"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Rscript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step3_TCGA_score.R {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TCGA_ssgsea_zscore_directory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} {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output_path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Input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TCGA_preprocess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ssgsea</a:t>
            </a:r>
            <a:r>
              <a:rPr lang="en-GB" altLang="en-US" sz="1600" dirty="0">
                <a:sym typeface="+mn-ea"/>
              </a:rPr>
              <a:t>/TCGA_{Cancer name}_ssGSEA_z-score.txt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Output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TCGA_preprocess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TCGA_score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TCGA_score</a:t>
            </a:r>
            <a:r>
              <a:rPr lang="en-GB" altLang="en-US" sz="1600" dirty="0">
                <a:sym typeface="+mn-ea"/>
              </a:rPr>
              <a:t>_{</a:t>
            </a:r>
            <a:r>
              <a:rPr lang="en-US" altLang="en-US" sz="1600" dirty="0" err="1">
                <a:sym typeface="+mn-ea"/>
              </a:rPr>
              <a:t>drugname</a:t>
            </a:r>
            <a:r>
              <a:rPr lang="en-US" altLang="en-US" sz="1600" dirty="0">
                <a:sym typeface="+mn-ea"/>
              </a:rPr>
              <a:t>}</a:t>
            </a:r>
            <a:r>
              <a:rPr lang="en-GB" altLang="en-US" sz="1600" dirty="0">
                <a:sym typeface="+mn-ea"/>
              </a:rPr>
              <a:t>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TCGA_preprocess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TCGA_score</a:t>
            </a:r>
            <a:r>
              <a:rPr lang="en-GB" altLang="en-US" sz="1600" dirty="0">
                <a:sym typeface="+mn-ea"/>
              </a:rPr>
              <a:t>/TCGA_score_outlier.txt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ym typeface="+mn-ea"/>
              </a:rPr>
              <a:t>이후 </a:t>
            </a:r>
            <a:r>
              <a:rPr lang="en-GB" altLang="ko-KR" sz="1600" dirty="0">
                <a:sym typeface="+mn-ea"/>
              </a:rPr>
              <a:t>LINCS step5_enrichment_score_scatter_plot.R </a:t>
            </a:r>
            <a:r>
              <a:rPr lang="ko-KR" altLang="en-US" sz="1600" dirty="0">
                <a:sym typeface="+mn-ea"/>
              </a:rPr>
              <a:t>부분에서 </a:t>
            </a:r>
            <a:r>
              <a:rPr lang="en-GB" altLang="ko-KR" sz="1600" dirty="0">
                <a:sym typeface="+mn-ea"/>
              </a:rPr>
              <a:t>TCGA score</a:t>
            </a:r>
            <a:r>
              <a:rPr lang="ko-KR" altLang="en-US" sz="1600" dirty="0">
                <a:sym typeface="+mn-ea"/>
              </a:rPr>
              <a:t>파일이 인풋으로 사용</a:t>
            </a: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4825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TCGA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400" dirty="0">
                <a:sym typeface="+mn-ea"/>
              </a:rPr>
              <a:t>Zeta server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400" dirty="0">
                <a:sym typeface="+mn-ea"/>
              </a:rPr>
              <a:t>Input: </a:t>
            </a:r>
            <a:r>
              <a:rPr lang="en-GB" altLang="en-US" sz="1400" dirty="0">
                <a:sym typeface="+mn-ea"/>
              </a:rPr>
              <a:t>/home/arajo0707/TCGA_LINCS/</a:t>
            </a:r>
            <a:r>
              <a:rPr lang="en-US" altLang="en-US" sz="1400" dirty="0" err="1">
                <a:sym typeface="+mn-ea"/>
              </a:rPr>
              <a:t>TCGA_preprocess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ssgsea</a:t>
            </a:r>
            <a:r>
              <a:rPr lang="en-GB" altLang="en-US" sz="1400" dirty="0">
                <a:sym typeface="+mn-ea"/>
              </a:rPr>
              <a:t>/TCGA_{Cancer name}_ssGSEA_z-score.txt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400" dirty="0">
                <a:sym typeface="+mn-ea"/>
              </a:rPr>
              <a:t>Output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400" dirty="0">
                <a:sym typeface="+mn-ea"/>
              </a:rPr>
              <a:t>/home/arajo0707/TCGA_LINCS/</a:t>
            </a:r>
            <a:r>
              <a:rPr lang="en-US" altLang="en-US" sz="1400" dirty="0" err="1">
                <a:sym typeface="+mn-ea"/>
              </a:rPr>
              <a:t>TCGA_preprocess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TCGA_score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TCGA_score</a:t>
            </a:r>
            <a:r>
              <a:rPr lang="en-GB" altLang="en-US" sz="1400" dirty="0">
                <a:sym typeface="+mn-ea"/>
              </a:rPr>
              <a:t>_{</a:t>
            </a:r>
            <a:r>
              <a:rPr lang="en-US" altLang="en-US" sz="1400" dirty="0" err="1">
                <a:sym typeface="+mn-ea"/>
              </a:rPr>
              <a:t>drugname</a:t>
            </a:r>
            <a:r>
              <a:rPr lang="en-US" altLang="en-US" sz="1400" dirty="0">
                <a:sym typeface="+mn-ea"/>
              </a:rPr>
              <a:t>}</a:t>
            </a:r>
            <a:r>
              <a:rPr lang="en-GB" altLang="en-US" sz="1400" dirty="0">
                <a:sym typeface="+mn-ea"/>
              </a:rPr>
              <a:t>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400" dirty="0">
                <a:sym typeface="+mn-ea"/>
              </a:rPr>
              <a:t>/home/arajo0707/TCGA_LINCS/</a:t>
            </a:r>
            <a:r>
              <a:rPr lang="en-US" altLang="en-US" sz="1400" dirty="0" err="1">
                <a:sym typeface="+mn-ea"/>
              </a:rPr>
              <a:t>TCGA_preprocess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TCGA_score</a:t>
            </a:r>
            <a:r>
              <a:rPr lang="en-GB" altLang="en-US" sz="1400" dirty="0">
                <a:sym typeface="+mn-ea"/>
              </a:rPr>
              <a:t>/TCGA_score_outlier.txt</a:t>
            </a:r>
          </a:p>
          <a:p>
            <a:pPr marL="0" indent="0">
              <a:lnSpc>
                <a:spcPct val="100000"/>
              </a:lnSpc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endParaRPr lang="" altLang="en-US" sz="1400" dirty="0">
              <a:sym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23" y="3381758"/>
            <a:ext cx="6344708" cy="64366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23" y="4360756"/>
            <a:ext cx="1047750" cy="15525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023" y="2077141"/>
            <a:ext cx="8620301" cy="68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063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LINCS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ym typeface="+mn-ea"/>
              </a:rPr>
              <a:t>과정</a:t>
            </a:r>
            <a:r>
              <a:rPr lang="en-US" altLang="ko-KR" sz="1600" dirty="0">
                <a:sym typeface="+mn-ea"/>
              </a:rPr>
              <a:t>1-1 : </a:t>
            </a:r>
            <a:r>
              <a:rPr lang="ko-KR" altLang="en-US" sz="1600" dirty="0">
                <a:sym typeface="+mn-ea"/>
              </a:rPr>
              <a:t>필요한 </a:t>
            </a:r>
            <a:r>
              <a:rPr lang="en-US" altLang="ko-KR" sz="1600" dirty="0">
                <a:sym typeface="+mn-ea"/>
              </a:rPr>
              <a:t>RAW data</a:t>
            </a:r>
            <a:r>
              <a:rPr lang="ko-KR" altLang="en-US" sz="1600" dirty="0">
                <a:sym typeface="+mn-ea"/>
              </a:rPr>
              <a:t>가져오기 및 기본 </a:t>
            </a:r>
            <a:r>
              <a:rPr lang="en-US" altLang="ko-KR" sz="1600" dirty="0">
                <a:sym typeface="+mn-ea"/>
              </a:rPr>
              <a:t>duplicate</a:t>
            </a:r>
            <a:r>
              <a:rPr lang="ko-KR" altLang="en-US" sz="1600" dirty="0">
                <a:sym typeface="+mn-ea"/>
              </a:rPr>
              <a:t>된 </a:t>
            </a:r>
            <a:r>
              <a:rPr lang="en-US" altLang="ko-KR" sz="1600" dirty="0">
                <a:sym typeface="+mn-ea"/>
              </a:rPr>
              <a:t>gene</a:t>
            </a:r>
            <a:r>
              <a:rPr lang="ko-KR" altLang="en-US" sz="1600" dirty="0">
                <a:sym typeface="+mn-ea"/>
              </a:rPr>
              <a:t>제거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Zeta server</a:t>
            </a: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" altLang="en-US" sz="1600" dirty="0">
                <a:sym typeface="+mn-ea"/>
              </a:rPr>
              <a:t>Path : </a:t>
            </a: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File:  step1_LINCS_preprocess.py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Command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python3 step1_LINCS_preprocess.py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Input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</a:t>
            </a:r>
            <a:r>
              <a:rPr lang="en-US" altLang="en-US" sz="1600" dirty="0">
                <a:sym typeface="+mn-ea"/>
              </a:rPr>
              <a:t>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US" altLang="en-US" sz="1600" dirty="0">
                <a:sym typeface="+mn-ea"/>
              </a:rPr>
              <a:t>/LINCS_Gene.txt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US" altLang="en-US" sz="1600" dirty="0">
                <a:sym typeface="+mn-ea"/>
              </a:rPr>
              <a:t>/</a:t>
            </a:r>
            <a:r>
              <a:rPr lang="en-US" altLang="en-US" sz="1600" dirty="0" err="1">
                <a:sym typeface="+mn-ea"/>
              </a:rPr>
              <a:t>LINCS_raw.gctx</a:t>
            </a: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Index file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US" altLang="en-US" sz="1600" dirty="0">
                <a:sym typeface="+mn-ea"/>
              </a:rPr>
              <a:t>/index_sorted_descending.txt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Output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drug_subset</a:t>
            </a:r>
            <a:r>
              <a:rPr lang="en-GB" altLang="en-US" sz="1600" dirty="0">
                <a:sym typeface="+mn-ea"/>
              </a:rPr>
              <a:t>/{drug_name}.txt.gz</a:t>
            </a:r>
          </a:p>
          <a:p>
            <a:pPr marL="0" indent="0">
              <a:lnSpc>
                <a:spcPct val="100000"/>
              </a:lnSpc>
              <a:buNone/>
            </a:pPr>
            <a:endParaRPr lang="" altLang="en-US" sz="16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9853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LINCS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Zeta server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Input: </a:t>
            </a:r>
            <a:r>
              <a:rPr lang="en-GB" altLang="en-US" sz="1600" dirty="0">
                <a:sym typeface="+mn-ea"/>
              </a:rPr>
              <a:t>home/arajo0707/TCGA_LINCS</a:t>
            </a:r>
            <a:r>
              <a:rPr lang="en-US" altLang="en-US" sz="1600" dirty="0">
                <a:sym typeface="+mn-ea"/>
              </a:rPr>
              <a:t>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US" altLang="en-US" sz="1600" dirty="0">
                <a:sym typeface="+mn-ea"/>
              </a:rPr>
              <a:t>/LINCS_Gene.txt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US" altLang="en-US" sz="1600" dirty="0">
                <a:sym typeface="+mn-ea"/>
              </a:rPr>
              <a:t>/LINCS_raw.txt.gz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 err="1">
                <a:sym typeface="+mn-ea"/>
              </a:rPr>
              <a:t>Indexfile</a:t>
            </a:r>
            <a:r>
              <a:rPr lang="en-GB" altLang="en-US" sz="1600" dirty="0">
                <a:sym typeface="+mn-ea"/>
              </a:rPr>
              <a:t>: 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US" altLang="en-US" sz="1600" dirty="0">
                <a:sym typeface="+mn-ea"/>
              </a:rPr>
              <a:t>/</a:t>
            </a:r>
            <a:r>
              <a:rPr lang="en-GB" altLang="en-US" sz="1600" dirty="0">
                <a:sym typeface="+mn-ea"/>
              </a:rPr>
              <a:t>index_sorted_descending.txt</a:t>
            </a: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Output :    ./</a:t>
            </a:r>
            <a:r>
              <a:rPr lang="en-GB" altLang="en-US" sz="1600" dirty="0" err="1">
                <a:sym typeface="+mn-ea"/>
              </a:rPr>
              <a:t>drug_subset</a:t>
            </a:r>
            <a:r>
              <a:rPr lang="en-GB" altLang="en-US" sz="1600" dirty="0">
                <a:sym typeface="+mn-ea"/>
              </a:rPr>
              <a:t>/{drug_name}_.txt.gz &lt;</a:t>
            </a:r>
            <a:r>
              <a:rPr lang="ko-KR" altLang="en-US" sz="1600" dirty="0">
                <a:sym typeface="+mn-ea"/>
              </a:rPr>
              <a:t>같은 농도 시간약물별로 실험값이 합쳐진 파일</a:t>
            </a:r>
            <a:r>
              <a:rPr lang="en-GB" altLang="en-US" sz="1600" dirty="0">
                <a:sym typeface="+mn-ea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53" y="2134743"/>
            <a:ext cx="3512608" cy="54751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rcRect r="2841" b="71306"/>
          <a:stretch/>
        </p:blipFill>
        <p:spPr>
          <a:xfrm>
            <a:off x="184654" y="3153890"/>
            <a:ext cx="3512607" cy="46539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652" y="5056184"/>
            <a:ext cx="7981950" cy="63817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652" y="4069401"/>
            <a:ext cx="86582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50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LINCS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75095" y="1386303"/>
            <a:ext cx="11169147" cy="527278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" altLang="en-US" sz="1600" dirty="0">
                <a:sym typeface="+mn-ea"/>
              </a:rPr>
              <a:t>LINCS_raw.txt.gz (12328*345976) </a:t>
            </a:r>
            <a:r>
              <a:rPr lang="en-US" altLang="en-US" sz="1600" dirty="0">
                <a:sym typeface="+mn-ea"/>
              </a:rPr>
              <a:t>&lt;12329*345976&gt;</a:t>
            </a:r>
            <a:br>
              <a:rPr lang="en-US" altLang="en-US" sz="1600" dirty="0">
                <a:sym typeface="+mn-ea"/>
              </a:rPr>
            </a:b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LINCS_with_entrezid.txt.gz</a:t>
            </a:r>
            <a:r>
              <a:rPr lang="" altLang="en-US" sz="1600" dirty="0">
                <a:sym typeface="+mn-ea"/>
              </a:rPr>
              <a:t>(12326*345980) &lt;12328 * 345980&gt; </a:t>
            </a:r>
            <a:r>
              <a:rPr lang="ko-KR" altLang="en-US" sz="1600" dirty="0">
                <a:sym typeface="+mn-ea"/>
              </a:rPr>
              <a:t>정렬안된 </a:t>
            </a:r>
            <a:r>
              <a:rPr lang="en-US" altLang="ko-KR" sz="1600" dirty="0">
                <a:sym typeface="+mn-ea"/>
              </a:rPr>
              <a:t>LINCS data</a:t>
            </a: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en-US" sz="1600" dirty="0">
                <a:sym typeface="+mn-ea"/>
              </a:rPr>
              <a:t>LINCS_sort_entraz_12328-345980.txt.gz</a:t>
            </a:r>
            <a:r>
              <a:rPr lang="" altLang="en-US" sz="1600" dirty="0">
                <a:sym typeface="+mn-ea"/>
              </a:rPr>
              <a:t>(12326*345980) &lt;12328 * 345980&gt; </a:t>
            </a:r>
            <a:r>
              <a:rPr lang="ko-KR" altLang="en-US" sz="1600" dirty="0">
                <a:sym typeface="+mn-ea"/>
              </a:rPr>
              <a:t>정렬된 </a:t>
            </a:r>
            <a:r>
              <a:rPr lang="en-US" altLang="ko-KR" sz="1600" dirty="0">
                <a:sym typeface="+mn-ea"/>
              </a:rPr>
              <a:t>LINCS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 err="1">
                <a:sym typeface="+mn-ea"/>
              </a:rPr>
              <a:t>파이썬</a:t>
            </a:r>
            <a:r>
              <a:rPr lang="ko-KR" altLang="en-US" sz="1600" dirty="0">
                <a:sym typeface="+mn-ea"/>
              </a:rPr>
              <a:t> 스크립트로 파일을 분리하면 메모리 부족 문제로 리눅스 명령어를 사용</a:t>
            </a:r>
            <a:endParaRPr lang="en-US" altLang="ko-KR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600" dirty="0">
                <a:sym typeface="+mn-ea"/>
              </a:rPr>
              <a:t>Ram 450GB </a:t>
            </a:r>
            <a:r>
              <a:rPr lang="ko-KR" altLang="en-US" sz="1600" dirty="0">
                <a:sym typeface="+mn-ea"/>
              </a:rPr>
              <a:t>이상 소모되며</a:t>
            </a:r>
            <a:r>
              <a:rPr lang="en-GB" altLang="ko-KR" sz="1600" dirty="0">
                <a:sym typeface="+mn-ea"/>
              </a:rPr>
              <a:t>, </a:t>
            </a:r>
            <a:r>
              <a:rPr lang="ko-KR" altLang="en-US" sz="1600" dirty="0">
                <a:sym typeface="+mn-ea"/>
              </a:rPr>
              <a:t>약 </a:t>
            </a:r>
            <a:r>
              <a:rPr lang="en-US" altLang="ko-KR" sz="1600" dirty="0">
                <a:sym typeface="+mn-ea"/>
              </a:rPr>
              <a:t>18</a:t>
            </a:r>
            <a:r>
              <a:rPr lang="ko-KR" altLang="en-US" sz="1600" dirty="0">
                <a:sym typeface="+mn-ea"/>
              </a:rPr>
              <a:t>시간 소요</a:t>
            </a:r>
            <a:endParaRPr lang="en-US" altLang="ko-KR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42" y="1690688"/>
            <a:ext cx="4981575" cy="6381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42" y="2710790"/>
            <a:ext cx="6385111" cy="7297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A832D8-1EA8-494B-B3A4-036B81FC2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942" y="3863940"/>
            <a:ext cx="6452418" cy="73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163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LINCS data – Linux command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75095" y="1386303"/>
            <a:ext cx="11169147" cy="527278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파일 핸들링 관련 리눅스 명령어</a:t>
            </a:r>
            <a:endParaRPr lang="en-US" altLang="ko-KR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latin typeface="+mj-ea"/>
              <a:ea typeface="+mj-ea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400" dirty="0">
                <a:latin typeface="+mj-ea"/>
                <a:ea typeface="+mj-ea"/>
                <a:cs typeface="DejaVu Sans Mono" panose="020B0609030804020204" pitchFamily="49" charset="0"/>
                <a:sym typeface="+mn-ea"/>
              </a:rPr>
              <a:t>Column-wise concatenate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paste &lt;(</a:t>
            </a:r>
            <a:r>
              <a:rPr lang="en-US" altLang="ko-KR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zcat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test1.gz) &lt;(</a:t>
            </a:r>
            <a:r>
              <a:rPr lang="en-US" altLang="ko-KR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zcat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test2.gz) | </a:t>
            </a:r>
            <a:r>
              <a:rPr lang="en-US" altLang="ko-KR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tr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-d "\r" | &gt; result.txt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latin typeface="+mj-ea"/>
              <a:ea typeface="+mj-ea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400" dirty="0">
                <a:latin typeface="+mj-ea"/>
                <a:ea typeface="+mj-ea"/>
                <a:cs typeface="DejaVu Sans Mono" panose="020B0609030804020204" pitchFamily="49" charset="0"/>
                <a:sym typeface="+mn-ea"/>
              </a:rPr>
              <a:t>Row-wise concatenate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zcat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1.txt 2.txt  &gt;&gt; 12.txt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400" dirty="0" err="1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Sed</a:t>
            </a:r>
            <a:r>
              <a:rPr lang="en-US" altLang="ko-KR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명령어</a:t>
            </a:r>
            <a:endParaRPr lang="en-US" altLang="ko-KR" sz="1400" dirty="0">
              <a:latin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sed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'5090d'  #5090 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번째 행 삭제 </a:t>
            </a:r>
            <a:endParaRPr lang="en-US" altLang="ko-KR" sz="1400" dirty="0">
              <a:latin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sed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'5090p'  #5090 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번째 행 출력</a:t>
            </a:r>
            <a:endParaRPr lang="en-US" altLang="ko-KR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Awk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명령어</a:t>
            </a:r>
            <a:endParaRPr lang="en-US" altLang="ko-KR" sz="1400" dirty="0">
              <a:latin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awk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'{print $23 "\t" $ 26}'  #23 ,26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번째 열 출력</a:t>
            </a:r>
            <a:endParaRPr lang="en-US" altLang="ko-KR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awk</a:t>
            </a:r>
            <a:r>
              <a:rPr lang="en-GB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'{print </a:t>
            </a:r>
            <a:r>
              <a:rPr lang="en-GB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substr</a:t>
            </a:r>
            <a:r>
              <a:rPr lang="en-GB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($0, index($0, $3))}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'</a:t>
            </a:r>
            <a:r>
              <a:rPr lang="en-GB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#$0 </a:t>
            </a:r>
            <a:r>
              <a:rPr lang="ko-KR" altLang="en-US" sz="1400" dirty="0" err="1">
                <a:latin typeface="DejaVu Sans Mono" panose="020B0609030804020204" pitchFamily="49" charset="0"/>
                <a:cs typeface="DejaVu Sans Mono" panose="020B0609030804020204" pitchFamily="49" charset="0"/>
              </a:rPr>
              <a:t>전체파일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  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$3 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세번째 콜론 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index(</a:t>
            </a:r>
            <a:r>
              <a:rPr lang="en-US" altLang="ko-KR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in,find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) in 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에 있는 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find 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의 위치를 리턴  </a:t>
            </a:r>
            <a:r>
              <a:rPr lang="en-US" altLang="ko-KR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substr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(string, start) string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에서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start 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부터 시작하는 열 반환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.(1,2 </a:t>
            </a:r>
            <a:r>
              <a:rPr lang="ko-KR" altLang="en-US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콜론삭제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)</a:t>
            </a:r>
            <a:endParaRPr lang="en-US" altLang="en-US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head –n 226  #226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번째까지 행 </a:t>
            </a:r>
            <a:endParaRPr lang="en-US" altLang="ko-KR" sz="1400" dirty="0">
              <a:latin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tail -n 10100  #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뒤에서부터 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10100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행</a:t>
            </a:r>
            <a:endParaRPr lang="en-US" altLang="ko-KR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gzip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&gt;&gt; LINCS_miawo.txt.gz #</a:t>
            </a:r>
            <a:r>
              <a:rPr lang="en-US" altLang="ko-KR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gzip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으로 압축 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&gt; 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파일새로생성 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&gt;&gt; 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있던 파일에 </a:t>
            </a:r>
            <a:r>
              <a:rPr lang="ko-KR" altLang="en-US" sz="1400" dirty="0" err="1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이어붙이기</a:t>
            </a:r>
            <a:endParaRPr lang="en-US" altLang="ko-KR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tr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-d "\r"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</a:t>
            </a:r>
            <a:r>
              <a:rPr lang="en-US" altLang="ko-KR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#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파일에 </a:t>
            </a:r>
            <a:r>
              <a:rPr lang="ko-KR" altLang="en-US" sz="1400" dirty="0" err="1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캐리지리턴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^M 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을 지움</a:t>
            </a:r>
            <a:endParaRPr lang="en-US" altLang="ko-KR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ko-KR" sz="1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indexfile_sorting.R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&gt; 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정렬되지않은 </a:t>
            </a:r>
            <a:r>
              <a:rPr lang="en-GB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index_sorted_descending.txt 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를 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3</a:t>
            </a:r>
            <a:r>
              <a:rPr lang="ko-KR" altLang="en-US" sz="1400" dirty="0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번째 행 </a:t>
            </a:r>
            <a:r>
              <a:rPr lang="en-US" altLang="ko-KR" sz="1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ctrl-dose-time </a:t>
            </a:r>
            <a:r>
              <a:rPr lang="ko-KR" altLang="en-US" sz="1400" dirty="0" err="1">
                <a:latin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순으로정렬</a:t>
            </a:r>
            <a:endParaRPr lang="en-US" altLang="ko-KR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8936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LINCS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ym typeface="+mn-ea"/>
              </a:rPr>
              <a:t>과정</a:t>
            </a:r>
            <a:r>
              <a:rPr lang="en-US" altLang="ko-KR" sz="1600" dirty="0">
                <a:sym typeface="+mn-ea"/>
              </a:rPr>
              <a:t>2 : </a:t>
            </a:r>
            <a:r>
              <a:rPr lang="ko-KR" altLang="en-US" sz="1600" dirty="0">
                <a:sym typeface="+mn-ea"/>
              </a:rPr>
              <a:t>각 약물별 파일중 </a:t>
            </a:r>
            <a:r>
              <a:rPr lang="en-US" altLang="ko-KR" sz="1600" dirty="0">
                <a:sym typeface="+mn-ea"/>
              </a:rPr>
              <a:t>[A375 /A549 /BT20 /HCC515 /HELA /HEPG2 /HS578T /HT29 /JURKAT /LNCAP /MCF7 /MDAMB231 /PC3 /SKBR3 /YAPC] </a:t>
            </a:r>
            <a:r>
              <a:rPr lang="ko-KR" altLang="en-US" sz="1600" dirty="0">
                <a:sym typeface="+mn-ea"/>
              </a:rPr>
              <a:t>셀라인만 뽑아서 추출</a:t>
            </a:r>
            <a:endParaRPr lang="en-US" altLang="ko-KR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Zeta server</a:t>
            </a: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" altLang="en-US" sz="1600" dirty="0">
                <a:sym typeface="+mn-ea"/>
              </a:rPr>
              <a:t>Path : </a:t>
            </a: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File: step2_celline_sorting.py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Command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python3 step2_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celline_sorting</a:t>
            </a:r>
            <a:r>
              <a:rPr lang="en-GB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.py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Input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drug_subset</a:t>
            </a:r>
            <a:r>
              <a:rPr lang="en-GB" altLang="en-US" sz="1600" dirty="0">
                <a:sym typeface="+mn-ea"/>
              </a:rPr>
              <a:t>/{drug_name}.txt.gz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Index file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US" altLang="en-US" sz="1600" dirty="0">
                <a:sym typeface="+mn-ea"/>
              </a:rPr>
              <a:t>/index_sorted_descending.txt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Output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drug_cancer_txt</a:t>
            </a:r>
            <a:r>
              <a:rPr lang="en-GB" altLang="en-US" sz="1600" dirty="0">
                <a:sym typeface="+mn-ea"/>
              </a:rPr>
              <a:t>/{drug_name}_cancer.txt</a:t>
            </a:r>
          </a:p>
          <a:p>
            <a:pPr marL="0" indent="0">
              <a:lnSpc>
                <a:spcPct val="100000"/>
              </a:lnSpc>
              <a:buNone/>
            </a:pPr>
            <a:endParaRPr lang="" altLang="en-US" sz="16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2214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LINCS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Zeta server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Input: /</a:t>
            </a:r>
            <a:r>
              <a:rPr lang="en-GB" altLang="en-US" sz="1600" dirty="0">
                <a:sym typeface="+mn-ea"/>
              </a:rPr>
              <a:t>home/arajo0707/TCGA_LINCS</a:t>
            </a:r>
            <a:r>
              <a:rPr lang="en-US" altLang="en-US" sz="1600" dirty="0">
                <a:sym typeface="+mn-ea"/>
              </a:rPr>
              <a:t>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US" altLang="en-US" sz="1600" dirty="0">
                <a:sym typeface="+mn-ea"/>
              </a:rPr>
              <a:t>/</a:t>
            </a:r>
            <a:r>
              <a:rPr lang="en-US" altLang="en-US" sz="1600" dirty="0" err="1">
                <a:sym typeface="+mn-ea"/>
              </a:rPr>
              <a:t>drug_subset</a:t>
            </a:r>
            <a:r>
              <a:rPr lang="en-US" altLang="en-US" sz="1600" dirty="0">
                <a:sym typeface="+mn-ea"/>
              </a:rPr>
              <a:t>/{dg}_subset.txt.gz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Output : </a:t>
            </a:r>
            <a:r>
              <a:rPr lang="en-US" altLang="en-US" sz="1600" dirty="0">
                <a:sym typeface="+mn-ea"/>
              </a:rPr>
              <a:t>/</a:t>
            </a:r>
            <a:r>
              <a:rPr lang="en-GB" altLang="en-US" sz="1600" dirty="0">
                <a:sym typeface="+mn-ea"/>
              </a:rPr>
              <a:t>home/arajo0707/TCGA_LINCS</a:t>
            </a:r>
            <a:r>
              <a:rPr lang="en-US" altLang="en-US" sz="1600" dirty="0">
                <a:sym typeface="+mn-ea"/>
              </a:rPr>
              <a:t>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US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drug_cancer</a:t>
            </a:r>
            <a:r>
              <a:rPr lang="en-GB" altLang="en-US" sz="1600" dirty="0">
                <a:sym typeface="+mn-ea"/>
              </a:rPr>
              <a:t>/{</a:t>
            </a:r>
            <a:r>
              <a:rPr lang="en-GB" altLang="en-US" sz="1600" dirty="0" err="1">
                <a:sym typeface="+mn-ea"/>
              </a:rPr>
              <a:t>drug_name</a:t>
            </a:r>
            <a:r>
              <a:rPr lang="en-GB" altLang="en-US" sz="1600" dirty="0">
                <a:sym typeface="+mn-ea"/>
              </a:rPr>
              <a:t>}_cancer.txt.gz&lt; </a:t>
            </a:r>
            <a:r>
              <a:rPr lang="ko-KR" altLang="en-US" sz="1600" dirty="0">
                <a:sym typeface="+mn-ea"/>
              </a:rPr>
              <a:t>선택된 셀라인만 골라진 파일</a:t>
            </a:r>
            <a:r>
              <a:rPr lang="en-GB" altLang="en-US" sz="1600" dirty="0">
                <a:sym typeface="+mn-ea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 err="1">
                <a:sym typeface="+mn-ea"/>
              </a:rPr>
              <a:t>Indexfile</a:t>
            </a:r>
            <a:r>
              <a:rPr lang="en-US" altLang="en-US" sz="1600" dirty="0">
                <a:sym typeface="+mn-ea"/>
              </a:rPr>
              <a:t>: 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US" altLang="en-US" sz="1600" dirty="0">
                <a:sym typeface="+mn-ea"/>
              </a:rPr>
              <a:t>/index_sorted_descending.txt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ym typeface="+mn-ea"/>
              </a:rPr>
              <a:t>총약물 </a:t>
            </a:r>
            <a:r>
              <a:rPr lang="en-US" altLang="ko-KR" sz="1600" dirty="0">
                <a:sym typeface="+mn-ea"/>
              </a:rPr>
              <a:t>1826</a:t>
            </a:r>
            <a:r>
              <a:rPr lang="ko-KR" altLang="en-US" sz="1600" dirty="0">
                <a:sym typeface="+mn-ea"/>
              </a:rPr>
              <a:t>개에서 </a:t>
            </a:r>
            <a:r>
              <a:rPr lang="en-US" altLang="ko-KR" sz="1600" dirty="0">
                <a:sym typeface="+mn-ea"/>
              </a:rPr>
              <a:t>1769</a:t>
            </a:r>
            <a:r>
              <a:rPr lang="ko-KR" altLang="en-US" sz="1600" dirty="0">
                <a:sym typeface="+mn-ea"/>
              </a:rPr>
              <a:t>개로 축소</a:t>
            </a:r>
            <a:r>
              <a:rPr lang="en-US" altLang="ko-KR" sz="1600" dirty="0">
                <a:sym typeface="+mn-ea"/>
              </a:rPr>
              <a:t>. </a:t>
            </a:r>
            <a:r>
              <a:rPr lang="ko-KR" altLang="en-US" sz="1600" dirty="0">
                <a:sym typeface="+mn-ea"/>
              </a:rPr>
              <a:t>비교 결과파일</a:t>
            </a:r>
            <a:endParaRPr lang="en-US" altLang="ko-KR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Output</a:t>
            </a:r>
            <a:r>
              <a:rPr lang="ko-KR" altLang="en-US" sz="1600" dirty="0">
                <a:sym typeface="+mn-ea"/>
              </a:rPr>
              <a:t> </a:t>
            </a:r>
            <a:r>
              <a:rPr lang="en-US" altLang="ko-KR" sz="1600" dirty="0">
                <a:sym typeface="+mn-ea"/>
              </a:rPr>
              <a:t>validation</a:t>
            </a:r>
            <a:r>
              <a:rPr lang="ko-KR" altLang="en-US" sz="1600" dirty="0">
                <a:sym typeface="+mn-ea"/>
              </a:rPr>
              <a:t> </a:t>
            </a:r>
            <a:r>
              <a:rPr lang="en-US" altLang="ko-KR" sz="1600" dirty="0">
                <a:sym typeface="+mn-ea"/>
              </a:rPr>
              <a:t>file</a:t>
            </a:r>
            <a:r>
              <a:rPr lang="en-US" altLang="en-US" sz="1600" dirty="0">
                <a:sym typeface="+mn-ea"/>
              </a:rPr>
              <a:t>: 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US" altLang="en-US" sz="1600" dirty="0">
                <a:sym typeface="+mn-ea"/>
              </a:rPr>
              <a:t>/step2_celline_sorting_validation.txt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endParaRPr lang="" altLang="en-US" sz="2000" dirty="0">
              <a:sym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01" y="2113820"/>
            <a:ext cx="6337617" cy="573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B21CBD-714E-4EA3-87AA-D35ED3259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301" y="4381129"/>
            <a:ext cx="9998768" cy="7166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82FEC0-FB14-40D2-8F47-04E631925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301" y="3098663"/>
            <a:ext cx="709612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LINCS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ym typeface="+mn-ea"/>
              </a:rPr>
              <a:t>과정</a:t>
            </a:r>
            <a:r>
              <a:rPr lang="en-US" altLang="ko-KR" sz="1600" dirty="0">
                <a:sym typeface="+mn-ea"/>
              </a:rPr>
              <a:t>3: LINCS data</a:t>
            </a:r>
            <a:r>
              <a:rPr lang="ko-KR" altLang="en-US" sz="1600" dirty="0">
                <a:sym typeface="+mn-ea"/>
              </a:rPr>
              <a:t>를 </a:t>
            </a:r>
            <a:r>
              <a:rPr lang="en-US" altLang="ko-KR" sz="1600" dirty="0" err="1">
                <a:sym typeface="+mn-ea"/>
              </a:rPr>
              <a:t>ssgsea</a:t>
            </a:r>
            <a:r>
              <a:rPr lang="ko-KR" altLang="en-US" sz="1600" dirty="0">
                <a:sym typeface="+mn-ea"/>
              </a:rPr>
              <a:t>분석 </a:t>
            </a:r>
            <a:endParaRPr lang="en-US" altLang="ko-KR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Zeta server</a:t>
            </a: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" altLang="en-US" sz="1600" dirty="0">
                <a:sym typeface="+mn-ea"/>
              </a:rPr>
              <a:t>Path : </a:t>
            </a: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File: step3_LINCS_ssGSEA.R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Command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Rscript</a:t>
            </a:r>
            <a:r>
              <a:rPr lang="en-GB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step3_LINCS_ssGSEA.R ./tft_benchmark_symbol_10TG.txt ./</a:t>
            </a:r>
            <a:r>
              <a:rPr lang="en-GB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drug_cancer_entrez_txt</a:t>
            </a:r>
            <a:r>
              <a:rPr lang="en-GB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./</a:t>
            </a:r>
            <a:r>
              <a:rPr lang="en-GB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ssgsea</a:t>
            </a: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Rscript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</a:t>
            </a:r>
            <a:r>
              <a:rPr lang="en-GB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step3_LINCS_ssGSEA.R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{TF-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target_gene_files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} {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drug_subset_path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} {</a:t>
            </a:r>
            <a:r>
              <a:rPr lang="en-US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output_path</a:t>
            </a:r>
            <a:r>
              <a:rPr lang="en-US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Input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drug_cancer_entrez_txt</a:t>
            </a:r>
            <a:r>
              <a:rPr lang="en-GB" altLang="en-US" sz="1600" dirty="0">
                <a:sym typeface="+mn-ea"/>
              </a:rPr>
              <a:t> /{drug_name}.txt.gz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Index file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US" altLang="en-US" sz="1600" dirty="0">
                <a:sym typeface="+mn-ea"/>
              </a:rPr>
              <a:t>/index_sorted_descending.txt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Output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ssgsea</a:t>
            </a:r>
            <a:r>
              <a:rPr lang="en-GB" altLang="en-US" sz="1600" dirty="0">
                <a:sym typeface="+mn-ea"/>
              </a:rPr>
              <a:t>/LINCS_ssGSEA_input.txt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ssgsea</a:t>
            </a:r>
            <a:r>
              <a:rPr lang="en-GB" altLang="en-US" sz="1600" dirty="0">
                <a:sym typeface="+mn-ea"/>
              </a:rPr>
              <a:t>/LINCS_ssGSEA.txt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ssgsea</a:t>
            </a:r>
            <a:r>
              <a:rPr lang="en-GB" altLang="en-US" sz="1600" dirty="0">
                <a:sym typeface="+mn-ea"/>
              </a:rPr>
              <a:t>/LINCS_ssGSEA_z-score.txt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6041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LINCS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400" dirty="0">
                <a:sym typeface="+mn-ea"/>
              </a:rPr>
              <a:t>Zeta server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400" dirty="0">
                <a:sym typeface="+mn-ea"/>
              </a:rPr>
              <a:t>Input: /</a:t>
            </a:r>
            <a:r>
              <a:rPr lang="en-GB" altLang="en-US" sz="1400" dirty="0">
                <a:sym typeface="+mn-ea"/>
              </a:rPr>
              <a:t>home/arajo0707/TCGA_LINCS</a:t>
            </a:r>
            <a:r>
              <a:rPr lang="en-US" altLang="en-US" sz="1400" dirty="0">
                <a:sym typeface="+mn-ea"/>
              </a:rPr>
              <a:t>/</a:t>
            </a:r>
            <a:r>
              <a:rPr lang="en-US" altLang="en-US" sz="1400" dirty="0" err="1">
                <a:sym typeface="+mn-ea"/>
              </a:rPr>
              <a:t>LINCS_preprocess</a:t>
            </a:r>
            <a:r>
              <a:rPr lang="en-US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drug_cancer</a:t>
            </a:r>
            <a:r>
              <a:rPr lang="en-GB" altLang="en-US" sz="1400" dirty="0">
                <a:sym typeface="+mn-ea"/>
              </a:rPr>
              <a:t>/{drug_name}_cancer.txt</a:t>
            </a: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400" dirty="0">
                <a:sym typeface="+mn-ea"/>
              </a:rPr>
              <a:t>Output :/home/arajo0707/TCGA_LINCS/</a:t>
            </a:r>
            <a:r>
              <a:rPr lang="en-US" altLang="en-US" sz="1400" dirty="0" err="1">
                <a:sym typeface="+mn-ea"/>
              </a:rPr>
              <a:t>LINCS_preprocess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ssgsea</a:t>
            </a:r>
            <a:r>
              <a:rPr lang="en-GB" altLang="en-US" sz="1400" dirty="0">
                <a:sym typeface="+mn-ea"/>
              </a:rPr>
              <a:t>/LINCS_ssGSEA_input.txt (GSVA </a:t>
            </a:r>
            <a:r>
              <a:rPr lang="ko-KR" altLang="en-US" sz="1400" dirty="0">
                <a:sym typeface="+mn-ea"/>
              </a:rPr>
              <a:t>함수에 들어가는 </a:t>
            </a:r>
            <a:r>
              <a:rPr lang="ko-KR" altLang="en-US" sz="1400" dirty="0" err="1">
                <a:sym typeface="+mn-ea"/>
              </a:rPr>
              <a:t>인풋파일</a:t>
            </a:r>
            <a:r>
              <a:rPr lang="en-US" altLang="ko-KR" sz="1400" dirty="0">
                <a:sym typeface="+mn-ea"/>
              </a:rPr>
              <a:t>)</a:t>
            </a: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altLang="en-US" sz="1400" dirty="0">
                <a:sym typeface="+mn-ea"/>
              </a:rPr>
              <a:t>/home/arajo0707/TCGA_LINCS/</a:t>
            </a:r>
            <a:r>
              <a:rPr lang="en-US" altLang="en-US" sz="1400" dirty="0" err="1">
                <a:sym typeface="+mn-ea"/>
              </a:rPr>
              <a:t>LINCS_preprocess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ssgsea</a:t>
            </a:r>
            <a:r>
              <a:rPr lang="en-GB" altLang="en-US" sz="1400" dirty="0">
                <a:sym typeface="+mn-ea"/>
              </a:rPr>
              <a:t>/LINCS_ssGSEA.txt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altLang="en-US" sz="1400" dirty="0">
                <a:sym typeface="+mn-ea"/>
              </a:rPr>
              <a:t>/home/arajo0707/TCGA_LINCS/</a:t>
            </a:r>
            <a:r>
              <a:rPr lang="en-US" altLang="en-US" sz="1400" dirty="0" err="1">
                <a:sym typeface="+mn-ea"/>
              </a:rPr>
              <a:t>LINCS_preprocess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ssgsea</a:t>
            </a:r>
            <a:r>
              <a:rPr lang="en-GB" altLang="en-US" sz="1400" dirty="0">
                <a:sym typeface="+mn-ea"/>
              </a:rPr>
              <a:t>/LINCS_ssGSEA_z-score.txt</a:t>
            </a:r>
          </a:p>
          <a:p>
            <a:pPr marL="0" indent="0">
              <a:lnSpc>
                <a:spcPct val="100000"/>
              </a:lnSpc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altLang="en-US" sz="1400" dirty="0">
                <a:sym typeface="+mn-ea"/>
              </a:rPr>
              <a:t>/home/arajo0707/TCGA_LINCS/</a:t>
            </a:r>
            <a:r>
              <a:rPr lang="en-US" altLang="en-US" sz="1400" dirty="0" err="1">
                <a:sym typeface="+mn-ea"/>
              </a:rPr>
              <a:t>LINCS_preprocess</a:t>
            </a:r>
            <a:r>
              <a:rPr lang="en-GB" altLang="en-US" sz="1400" dirty="0">
                <a:sym typeface="+mn-ea"/>
              </a:rPr>
              <a:t>/step3_GSVA_outlier.txt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endParaRPr lang="" altLang="en-US" sz="1400" dirty="0">
              <a:sym typeface="+mn-e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153F95-BA47-4A7F-ABDB-FAEA5C393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01" y="5617320"/>
            <a:ext cx="1967917" cy="405643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FA82FEC0-FB14-40D2-8F47-04E631925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301" y="1995586"/>
            <a:ext cx="5091261" cy="53304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301" y="2871229"/>
            <a:ext cx="6005661" cy="53716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301" y="3709171"/>
            <a:ext cx="6324160" cy="5639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301" y="4664315"/>
            <a:ext cx="66675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86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LINCS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ym typeface="+mn-ea"/>
              </a:rPr>
              <a:t>과정</a:t>
            </a:r>
            <a:r>
              <a:rPr lang="en-US" altLang="ko-KR" sz="1600" dirty="0">
                <a:sym typeface="+mn-ea"/>
              </a:rPr>
              <a:t>4: cancer</a:t>
            </a:r>
            <a:r>
              <a:rPr lang="ko-KR" altLang="en-US" sz="1600" dirty="0">
                <a:sym typeface="+mn-ea"/>
              </a:rPr>
              <a:t> </a:t>
            </a:r>
            <a:r>
              <a:rPr lang="en-US" altLang="ko-KR" sz="1600" dirty="0" err="1">
                <a:sym typeface="+mn-ea"/>
              </a:rPr>
              <a:t>celline</a:t>
            </a:r>
            <a:r>
              <a:rPr lang="ko-KR" altLang="en-US" sz="1600" dirty="0">
                <a:sym typeface="+mn-ea"/>
              </a:rPr>
              <a:t>에 </a:t>
            </a:r>
            <a:r>
              <a:rPr lang="en-US" altLang="ko-KR" sz="1600" dirty="0">
                <a:sym typeface="+mn-ea"/>
              </a:rPr>
              <a:t>DMSO</a:t>
            </a:r>
            <a:r>
              <a:rPr lang="ko-KR" altLang="en-US" sz="1600" dirty="0">
                <a:sym typeface="+mn-ea"/>
              </a:rPr>
              <a:t>와함께 </a:t>
            </a:r>
            <a:r>
              <a:rPr lang="en-US" altLang="ko-KR" sz="1600" dirty="0">
                <a:sym typeface="+mn-ea"/>
              </a:rPr>
              <a:t>GSVA package </a:t>
            </a:r>
            <a:r>
              <a:rPr lang="en-US" altLang="ko-KR" sz="1600" dirty="0" err="1">
                <a:sym typeface="+mn-ea"/>
              </a:rPr>
              <a:t>ssgsea</a:t>
            </a:r>
            <a:r>
              <a:rPr lang="ko-KR" altLang="en-US" sz="1600" dirty="0">
                <a:sym typeface="+mn-ea"/>
              </a:rPr>
              <a:t>분석</a:t>
            </a:r>
            <a:endParaRPr lang="en-US" altLang="ko-KR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Zeta server</a:t>
            </a: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" altLang="en-US" sz="1600" dirty="0">
                <a:sym typeface="+mn-ea"/>
              </a:rPr>
              <a:t>Path : </a:t>
            </a: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File: step4_LINCS_score.R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Command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Rscript</a:t>
            </a:r>
            <a:r>
              <a:rPr lang="en-GB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step4_LINCS_score.R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Input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GB" altLang="en-US" sz="1600" dirty="0" err="1">
                <a:sym typeface="+mn-ea"/>
              </a:rPr>
              <a:t>LINCS_preprocess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ssgsea</a:t>
            </a:r>
            <a:r>
              <a:rPr lang="en-GB" altLang="en-US" sz="1600" dirty="0">
                <a:sym typeface="+mn-ea"/>
              </a:rPr>
              <a:t>/LINCS_ssGSEA_z-score.txt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Index file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US" altLang="en-US" sz="1600" dirty="0">
                <a:sym typeface="+mn-ea"/>
              </a:rPr>
              <a:t>/index_sorted_descending.txt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Output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LINCS_score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LINCS_score</a:t>
            </a:r>
            <a:r>
              <a:rPr lang="en-GB" altLang="en-US" sz="1600" dirty="0">
                <a:sym typeface="+mn-ea"/>
              </a:rPr>
              <a:t>_{</a:t>
            </a:r>
            <a:r>
              <a:rPr lang="en-US" altLang="en-US" sz="1600" dirty="0" err="1">
                <a:sym typeface="+mn-ea"/>
              </a:rPr>
              <a:t>drugname</a:t>
            </a:r>
            <a:r>
              <a:rPr lang="en-US" altLang="en-US" sz="1600" dirty="0">
                <a:sym typeface="+mn-ea"/>
              </a:rPr>
              <a:t>}</a:t>
            </a:r>
            <a:r>
              <a:rPr lang="en-GB" altLang="en-US" sz="1600" dirty="0">
                <a:sym typeface="+mn-ea"/>
              </a:rPr>
              <a:t>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LINCS_score</a:t>
            </a:r>
            <a:r>
              <a:rPr lang="en-GB" altLang="en-US" sz="1600" dirty="0">
                <a:sym typeface="+mn-ea"/>
              </a:rPr>
              <a:t>/LINCS_score_outlier.txt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" altLang="en-US" sz="16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07683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LINCS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400" dirty="0">
                <a:sym typeface="+mn-ea"/>
              </a:rPr>
              <a:t>Zeta server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400" dirty="0">
                <a:sym typeface="+mn-ea"/>
              </a:rPr>
              <a:t>Input: </a:t>
            </a:r>
            <a:r>
              <a:rPr lang="en-GB" altLang="en-US" sz="1400" dirty="0">
                <a:sym typeface="+mn-ea"/>
              </a:rPr>
              <a:t>/home/arajo0707/TCGA_LINCS/</a:t>
            </a:r>
            <a:r>
              <a:rPr lang="en-US" altLang="en-US" sz="1400" dirty="0" err="1">
                <a:sym typeface="+mn-ea"/>
              </a:rPr>
              <a:t>LINCS_preprocess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ssgsea</a:t>
            </a:r>
            <a:r>
              <a:rPr lang="en-GB" altLang="en-US" sz="1400" dirty="0">
                <a:sym typeface="+mn-ea"/>
              </a:rPr>
              <a:t>/LINCS_ssGSEA_z-score.txt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400" dirty="0">
                <a:sym typeface="+mn-ea"/>
              </a:rPr>
              <a:t>Output :/home/arajo0707/TCGA_LINCS/</a:t>
            </a:r>
            <a:r>
              <a:rPr lang="en-US" altLang="en-US" sz="1400" dirty="0" err="1">
                <a:sym typeface="+mn-ea"/>
              </a:rPr>
              <a:t>LINCS_preprocess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LINCS_score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LINCS_score</a:t>
            </a:r>
            <a:r>
              <a:rPr lang="en-GB" altLang="en-US" sz="1400" dirty="0">
                <a:sym typeface="+mn-ea"/>
              </a:rPr>
              <a:t>_{</a:t>
            </a:r>
            <a:r>
              <a:rPr lang="en-US" altLang="en-US" sz="1400" dirty="0" err="1">
                <a:sym typeface="+mn-ea"/>
              </a:rPr>
              <a:t>drugname</a:t>
            </a:r>
            <a:r>
              <a:rPr lang="en-US" altLang="en-US" sz="1400" dirty="0">
                <a:sym typeface="+mn-ea"/>
              </a:rPr>
              <a:t>}</a:t>
            </a:r>
            <a:r>
              <a:rPr lang="en-GB" altLang="en-US" sz="1400" dirty="0">
                <a:sym typeface="+mn-ea"/>
              </a:rPr>
              <a:t>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endParaRPr lang="" altLang="en-US" sz="1400" dirty="0">
              <a:sym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01" y="2013585"/>
            <a:ext cx="6667500" cy="5905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301" y="2927032"/>
            <a:ext cx="952500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13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LINCS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ym typeface="+mn-ea"/>
              </a:rPr>
              <a:t>과정</a:t>
            </a:r>
            <a:r>
              <a:rPr lang="en-US" altLang="ko-KR" sz="1600" dirty="0">
                <a:sym typeface="+mn-ea"/>
              </a:rPr>
              <a:t>5:  Plotting </a:t>
            </a:r>
            <a:r>
              <a:rPr lang="ko-KR" altLang="en-US" sz="1600" dirty="0">
                <a:sym typeface="+mn-ea"/>
              </a:rPr>
              <a:t>을 위한 전체 </a:t>
            </a:r>
            <a:r>
              <a:rPr lang="en-US" altLang="ko-KR" sz="1600" dirty="0">
                <a:sym typeface="+mn-ea"/>
              </a:rPr>
              <a:t>LINCS, TCGA Enrichment score file </a:t>
            </a:r>
            <a:r>
              <a:rPr lang="ko-KR" altLang="en-US" sz="1600" dirty="0">
                <a:sym typeface="+mn-ea"/>
              </a:rPr>
              <a:t>계산 및  </a:t>
            </a:r>
            <a:r>
              <a:rPr lang="en-US" altLang="ko-KR" sz="1600" dirty="0">
                <a:sym typeface="+mn-ea"/>
              </a:rPr>
              <a:t>L-score </a:t>
            </a:r>
            <a:r>
              <a:rPr lang="ko-KR" altLang="en-US" sz="1600" dirty="0" err="1">
                <a:sym typeface="+mn-ea"/>
              </a:rPr>
              <a:t>계산파일</a:t>
            </a:r>
            <a:endParaRPr lang="en-US" altLang="ko-KR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Zeta server</a:t>
            </a:r>
            <a:endParaRPr lang="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" altLang="en-US" sz="1600" dirty="0">
                <a:sym typeface="+mn-ea"/>
              </a:rPr>
              <a:t>Path : </a:t>
            </a: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File: step5_enrichment_score_sctter_plot.R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Command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Rscript</a:t>
            </a:r>
            <a:r>
              <a:rPr lang="en-GB" alt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+mn-ea"/>
              </a:rPr>
              <a:t> step5_enrichment_score_sctter_plot.R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 dirty="0">
                <a:sym typeface="+mn-ea"/>
              </a:rPr>
              <a:t>Input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LINCS_score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LINCS_score</a:t>
            </a:r>
            <a:r>
              <a:rPr lang="en-GB" altLang="en-US" sz="1600" dirty="0">
                <a:sym typeface="+mn-ea"/>
              </a:rPr>
              <a:t>_{</a:t>
            </a:r>
            <a:r>
              <a:rPr lang="en-US" altLang="en-US" sz="1600" dirty="0" err="1">
                <a:sym typeface="+mn-ea"/>
              </a:rPr>
              <a:t>drugname</a:t>
            </a:r>
            <a:r>
              <a:rPr lang="en-US" altLang="en-US" sz="1600" dirty="0">
                <a:sym typeface="+mn-ea"/>
              </a:rPr>
              <a:t>}</a:t>
            </a:r>
            <a:r>
              <a:rPr lang="en-GB" altLang="en-US" sz="1600" dirty="0">
                <a:sym typeface="+mn-ea"/>
              </a:rPr>
              <a:t>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GB" altLang="en-US" sz="1600" dirty="0" err="1">
                <a:sym typeface="+mn-ea"/>
              </a:rPr>
              <a:t>TCGA_preprocess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TCGA_score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TCGA_score</a:t>
            </a:r>
            <a:r>
              <a:rPr lang="en-GB" altLang="en-US" sz="1600" dirty="0">
                <a:sym typeface="+mn-ea"/>
              </a:rPr>
              <a:t>_{</a:t>
            </a:r>
            <a:r>
              <a:rPr lang="en-US" altLang="en-US" sz="1600" dirty="0">
                <a:sym typeface="+mn-ea"/>
              </a:rPr>
              <a:t>drugname}.txt</a:t>
            </a: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Index file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US" altLang="en-US" sz="1600" dirty="0" err="1">
                <a:sym typeface="+mn-ea"/>
              </a:rPr>
              <a:t>LINCS_preprocess</a:t>
            </a:r>
            <a:r>
              <a:rPr lang="en-US" altLang="en-US" sz="1600" dirty="0">
                <a:sym typeface="+mn-ea"/>
              </a:rPr>
              <a:t>/index_sorted_descending.txt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6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Output data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GB" altLang="en-US" sz="1600" dirty="0" err="1">
                <a:sym typeface="+mn-ea"/>
              </a:rPr>
              <a:t>LINCS_preprocess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LINCS_score</a:t>
            </a:r>
            <a:r>
              <a:rPr lang="en-GB" altLang="en-US" sz="1600" dirty="0">
                <a:sym typeface="+mn-ea"/>
              </a:rPr>
              <a:t>/Enrichment_score_LINCS_total.txt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GB" altLang="en-US" sz="1600" dirty="0" err="1">
                <a:sym typeface="+mn-ea"/>
              </a:rPr>
              <a:t>TCGA_preprocess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TCGA_score</a:t>
            </a:r>
            <a:r>
              <a:rPr lang="en-GB" altLang="en-US" sz="1600" dirty="0">
                <a:sym typeface="+mn-ea"/>
              </a:rPr>
              <a:t>/Enrichment_score_TCGA_total.txt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GB" altLang="en-US" sz="1600" dirty="0" err="1">
                <a:sym typeface="+mn-ea"/>
              </a:rPr>
              <a:t>LINCS_preprocess</a:t>
            </a:r>
            <a:r>
              <a:rPr lang="en-GB" altLang="en-US" sz="1600" dirty="0">
                <a:sym typeface="+mn-ea"/>
              </a:rPr>
              <a:t>/</a:t>
            </a:r>
            <a:r>
              <a:rPr lang="en-GB" altLang="en-US" sz="1600" dirty="0" err="1">
                <a:sym typeface="+mn-ea"/>
              </a:rPr>
              <a:t>LINCS_score</a:t>
            </a:r>
            <a:r>
              <a:rPr lang="en-GB" altLang="en-US" sz="1600" dirty="0">
                <a:sym typeface="+mn-ea"/>
              </a:rPr>
              <a:t>/scatterplot/{</a:t>
            </a:r>
            <a:r>
              <a:rPr lang="en-GB" altLang="en-US" sz="1600" dirty="0" err="1">
                <a:sym typeface="+mn-ea"/>
              </a:rPr>
              <a:t>cancer_name</a:t>
            </a:r>
            <a:r>
              <a:rPr lang="en-GB" altLang="en-US" sz="1600" dirty="0">
                <a:sym typeface="+mn-ea"/>
              </a:rPr>
              <a:t>}/{cancer_name}_{drugname}.tiff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600" dirty="0">
                <a:sym typeface="+mn-ea"/>
              </a:rPr>
              <a:t>/home/arajo0707/TCGA_LINCS/</a:t>
            </a:r>
            <a:r>
              <a:rPr lang="en-GB" altLang="en-US" sz="1600" dirty="0" err="1">
                <a:sym typeface="+mn-ea"/>
              </a:rPr>
              <a:t>LINCS_preprocess</a:t>
            </a:r>
            <a:r>
              <a:rPr lang="en-GB" altLang="en-US" sz="1600" dirty="0">
                <a:sym typeface="+mn-ea"/>
              </a:rPr>
              <a:t>/L-score_final_result_file.txt</a:t>
            </a:r>
            <a:endParaRPr lang="" altLang="en-US" sz="16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6375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LINCS data 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84653" y="1519881"/>
            <a:ext cx="11801401" cy="51898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400" dirty="0">
                <a:sym typeface="+mn-ea"/>
              </a:rPr>
              <a:t>Zeta server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400" dirty="0">
                <a:sym typeface="+mn-ea"/>
              </a:rPr>
              <a:t>Input</a:t>
            </a:r>
            <a:r>
              <a:rPr lang="en-GB" altLang="en-US" sz="1400" dirty="0">
                <a:sym typeface="+mn-ea"/>
              </a:rPr>
              <a:t>:/home/arajo0707/TCGA_LINCS/</a:t>
            </a:r>
            <a:r>
              <a:rPr lang="en-US" altLang="en-US" sz="1400" dirty="0" err="1">
                <a:sym typeface="+mn-ea"/>
              </a:rPr>
              <a:t>LINCS_preprocess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LINCS_score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LINCS_score</a:t>
            </a:r>
            <a:r>
              <a:rPr lang="en-GB" altLang="en-US" sz="1400" dirty="0">
                <a:sym typeface="+mn-ea"/>
              </a:rPr>
              <a:t>_{</a:t>
            </a:r>
            <a:r>
              <a:rPr lang="en-US" altLang="en-US" sz="1400" dirty="0" err="1">
                <a:sym typeface="+mn-ea"/>
              </a:rPr>
              <a:t>drugname</a:t>
            </a:r>
            <a:r>
              <a:rPr lang="en-US" altLang="en-US" sz="1400" dirty="0">
                <a:sym typeface="+mn-ea"/>
              </a:rPr>
              <a:t>}</a:t>
            </a:r>
            <a:r>
              <a:rPr lang="en-GB" altLang="en-US" sz="1400" dirty="0">
                <a:sym typeface="+mn-ea"/>
              </a:rPr>
              <a:t>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400" dirty="0">
                <a:sym typeface="+mn-ea"/>
              </a:rPr>
              <a:t>Output: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400" dirty="0">
                <a:sym typeface="+mn-ea"/>
              </a:rPr>
              <a:t>/</a:t>
            </a:r>
            <a:r>
              <a:rPr lang="en-GB" altLang="en-US" sz="1400" dirty="0">
                <a:sym typeface="+mn-ea"/>
              </a:rPr>
              <a:t>home/arajo0707/TCGA_LINCS/</a:t>
            </a:r>
            <a:r>
              <a:rPr lang="en-GB" altLang="en-US" sz="1400" dirty="0" err="1">
                <a:sym typeface="+mn-ea"/>
              </a:rPr>
              <a:t>LINCS_preprocess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LINCS_score</a:t>
            </a:r>
            <a:r>
              <a:rPr lang="en-GB" altLang="en-US" sz="1400" dirty="0">
                <a:sym typeface="+mn-ea"/>
              </a:rPr>
              <a:t>/Enrichment_score_LINCS_total.txt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400" dirty="0">
                <a:sym typeface="+mn-ea"/>
              </a:rPr>
              <a:t>/home/arajo0707/TCGA_LINCS/</a:t>
            </a:r>
            <a:r>
              <a:rPr lang="en-GB" altLang="en-US" sz="1400" dirty="0" err="1">
                <a:sym typeface="+mn-ea"/>
              </a:rPr>
              <a:t>TCGA_preprocess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TCGA_score</a:t>
            </a:r>
            <a:r>
              <a:rPr lang="en-GB" altLang="en-US" sz="1400" dirty="0">
                <a:sym typeface="+mn-ea"/>
              </a:rPr>
              <a:t>/Enrichment_score_TCGA_total.txt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400" dirty="0">
                <a:sym typeface="+mn-ea"/>
              </a:rPr>
              <a:t>/home/arajo0707/TCGA_LINCS/</a:t>
            </a:r>
            <a:r>
              <a:rPr lang="en-GB" altLang="en-US" sz="1400" dirty="0" err="1">
                <a:sym typeface="+mn-ea"/>
              </a:rPr>
              <a:t>LINCS_preprocess</a:t>
            </a:r>
            <a:r>
              <a:rPr lang="en-GB" altLang="en-US" sz="1400" dirty="0">
                <a:sym typeface="+mn-ea"/>
              </a:rPr>
              <a:t>/L-score_final_result_file.txt</a:t>
            </a:r>
            <a:endParaRPr lang="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altLang="en-US" sz="1400" dirty="0">
                <a:sym typeface="+mn-ea"/>
              </a:rPr>
              <a:t>/home/arajo0707/TCGA_LINCS/</a:t>
            </a:r>
            <a:r>
              <a:rPr lang="en-GB" altLang="en-US" sz="1400" dirty="0" err="1">
                <a:sym typeface="+mn-ea"/>
              </a:rPr>
              <a:t>LINCS_preprocess</a:t>
            </a:r>
            <a:r>
              <a:rPr lang="en-GB" altLang="en-US" sz="1400" dirty="0">
                <a:sym typeface="+mn-ea"/>
              </a:rPr>
              <a:t>/</a:t>
            </a:r>
            <a:r>
              <a:rPr lang="en-GB" altLang="en-US" sz="1400" dirty="0" err="1">
                <a:sym typeface="+mn-ea"/>
              </a:rPr>
              <a:t>LINCS_score</a:t>
            </a:r>
            <a:r>
              <a:rPr lang="en-GB" altLang="en-US" sz="1400" dirty="0">
                <a:sym typeface="+mn-ea"/>
              </a:rPr>
              <a:t>/scatterplot/{</a:t>
            </a:r>
            <a:r>
              <a:rPr lang="en-GB" altLang="en-US" sz="1400" dirty="0" err="1">
                <a:sym typeface="+mn-ea"/>
              </a:rPr>
              <a:t>cancer_name</a:t>
            </a:r>
            <a:r>
              <a:rPr lang="en-GB" altLang="en-US" sz="1400" dirty="0">
                <a:sym typeface="+mn-ea"/>
              </a:rPr>
              <a:t>}/{cancer_name}_{drugname}.tiff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ym typeface="+mn-ea"/>
              </a:rPr>
              <a:t>각 암디렉터리별로 </a:t>
            </a:r>
            <a:r>
              <a:rPr lang="en-GB" altLang="ko-KR" sz="1400" dirty="0">
                <a:sym typeface="+mn-ea"/>
              </a:rPr>
              <a:t>1732</a:t>
            </a:r>
            <a:r>
              <a:rPr lang="ko-KR" altLang="en-US" sz="1400" dirty="0">
                <a:sym typeface="+mn-ea"/>
              </a:rPr>
              <a:t>개의 결과파일이 </a:t>
            </a:r>
            <a:r>
              <a:rPr lang="en-GB" altLang="ko-KR" sz="1400" dirty="0">
                <a:sym typeface="+mn-ea"/>
              </a:rPr>
              <a:t>.tiff</a:t>
            </a:r>
            <a:r>
              <a:rPr lang="ko-KR" altLang="en-US" sz="1400" dirty="0">
                <a:sym typeface="+mn-ea"/>
              </a:rPr>
              <a:t>로 저장</a:t>
            </a: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ko-KR" sz="1400" dirty="0"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1400" dirty="0"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endParaRPr lang="" altLang="en-US" sz="1400" dirty="0">
              <a:sym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53" y="2074277"/>
            <a:ext cx="9525000" cy="6572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/>
          <a:srcRect r="18837"/>
          <a:stretch/>
        </p:blipFill>
        <p:spPr>
          <a:xfrm>
            <a:off x="184653" y="3374873"/>
            <a:ext cx="8753864" cy="6098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rcRect r="7951"/>
          <a:stretch/>
        </p:blipFill>
        <p:spPr>
          <a:xfrm>
            <a:off x="184653" y="4445967"/>
            <a:ext cx="8815510" cy="69350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653" y="5380096"/>
            <a:ext cx="6709307" cy="56190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3707" y="5321413"/>
            <a:ext cx="2482347" cy="124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6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9296</TotalTime>
  <Words>2951</Words>
  <Application>Microsoft Office PowerPoint</Application>
  <PresentationFormat>Widescreen</PresentationFormat>
  <Paragraphs>474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맑은 고딕</vt:lpstr>
      <vt:lpstr>Arial</vt:lpstr>
      <vt:lpstr>Calibri</vt:lpstr>
      <vt:lpstr>Calibri Light</vt:lpstr>
      <vt:lpstr>DejaVu Sans Mono</vt:lpstr>
      <vt:lpstr>Office 테마</vt:lpstr>
      <vt:lpstr>TCGA LINCS Data Pipeline</vt:lpstr>
      <vt:lpstr>TCGA data</vt:lpstr>
      <vt:lpstr>LINCS data</vt:lpstr>
      <vt:lpstr>TCGA data </vt:lpstr>
      <vt:lpstr>TCGA data </vt:lpstr>
      <vt:lpstr>TCGA data </vt:lpstr>
      <vt:lpstr>TCGA data </vt:lpstr>
      <vt:lpstr>TCGA data </vt:lpstr>
      <vt:lpstr>TCGA data </vt:lpstr>
      <vt:lpstr>TCGA data </vt:lpstr>
      <vt:lpstr>TCGA data </vt:lpstr>
      <vt:lpstr>LINCS data </vt:lpstr>
      <vt:lpstr>LINCS data </vt:lpstr>
      <vt:lpstr>LINCS data </vt:lpstr>
      <vt:lpstr>LINCS data – Linux command </vt:lpstr>
      <vt:lpstr>LINCS data </vt:lpstr>
      <vt:lpstr>LINCS data </vt:lpstr>
      <vt:lpstr>LINCS data </vt:lpstr>
      <vt:lpstr>LINCS data </vt:lpstr>
      <vt:lpstr>LINCS data </vt:lpstr>
      <vt:lpstr>LINCS data </vt:lpstr>
      <vt:lpstr>LINCS data </vt:lpstr>
      <vt:lpstr>LINCS data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TCGA LINCS Data Pipeline</dc:title>
  <dc:creator>IRCGP</dc:creator>
  <cp:lastModifiedBy>Ara Jo</cp:lastModifiedBy>
  <cp:revision>194</cp:revision>
  <dcterms:created xsi:type="dcterms:W3CDTF">2021-07-06T08:48:18Z</dcterms:created>
  <dcterms:modified xsi:type="dcterms:W3CDTF">2021-10-04T10:34:03Z</dcterms:modified>
</cp:coreProperties>
</file>