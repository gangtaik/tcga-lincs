
<file path=[Content_Types].xml><?xml version="1.0" encoding="utf-8"?>
<Types xmlns="http://schemas.openxmlformats.org/package/2006/content-types">
  <Default Extension="jpe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5" r:id="rId11"/>
    <p:sldId id="264" r:id="rId12"/>
    <p:sldId id="266" r:id="rId13"/>
    <p:sldId id="284" r:id="rId14"/>
    <p:sldId id="288" r:id="rId15"/>
    <p:sldId id="332" r:id="rId16"/>
    <p:sldId id="330" r:id="rId17"/>
    <p:sldId id="331" r:id="rId18"/>
    <p:sldId id="285" r:id="rId19"/>
    <p:sldId id="269" r:id="rId20"/>
    <p:sldId id="321" r:id="rId21"/>
    <p:sldId id="327" r:id="rId22"/>
    <p:sldId id="322" r:id="rId23"/>
    <p:sldId id="323" r:id="rId24"/>
    <p:sldId id="324" r:id="rId25"/>
    <p:sldId id="325" r:id="rId26"/>
    <p:sldId id="326" r:id="rId27"/>
    <p:sldId id="328" r:id="rId28"/>
    <p:sldId id="329" r:id="rId29"/>
    <p:sldId id="334" r:id="rId30"/>
    <p:sldId id="335" r:id="rId31"/>
    <p:sldId id="336" r:id="rId32"/>
    <p:sldId id="337" r:id="rId33"/>
    <p:sldId id="333" r:id="rId3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tif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tif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tiff"/><Relationship Id="rId1" Type="http://schemas.openxmlformats.org/officeDocument/2006/relationships/image" Target="../media/image5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tiff"/><Relationship Id="rId1" Type="http://schemas.openxmlformats.org/officeDocument/2006/relationships/image" Target="../media/image7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tiff"/><Relationship Id="rId1" Type="http://schemas.openxmlformats.org/officeDocument/2006/relationships/image" Target="../media/image9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1" Type="http://schemas.openxmlformats.org/officeDocument/2006/relationships/image" Target="../media/image11.tif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tif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tif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tif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tif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LINCS 정리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by step data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TCGA data</a:t>
            </a:r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9080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TCGA </a:t>
            </a:r>
            <a:endParaRPr lang="en-US" altLang="en-US"/>
          </a:p>
          <a:p>
            <a:pPr algn="ctr"/>
            <a:r>
              <a:rPr lang="en-US" altLang="en-US"/>
              <a:t>Raw data</a:t>
            </a:r>
            <a:endParaRPr lang="en-US" altLang="en-US"/>
          </a:p>
        </p:txBody>
      </p:sp>
      <p:sp>
        <p:nvSpPr>
          <p:cNvPr id="10" name="Right Arrow 9"/>
          <p:cNvSpPr/>
          <p:nvPr/>
        </p:nvSpPr>
        <p:spPr>
          <a:xfrm>
            <a:off x="2582545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805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1</a:t>
            </a:r>
            <a:endParaRPr lang="en-US" altLang="en-US"/>
          </a:p>
        </p:txBody>
      </p:sp>
      <p:sp>
        <p:nvSpPr>
          <p:cNvPr id="9" name="Rectangle 8"/>
          <p:cNvSpPr/>
          <p:nvPr/>
        </p:nvSpPr>
        <p:spPr>
          <a:xfrm>
            <a:off x="3276600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Withdrawn, duplicate제거</a:t>
            </a:r>
            <a:endParaRPr lang="en-US" altLang="en-US"/>
          </a:p>
          <a:p>
            <a:pPr algn="ctr"/>
            <a:r>
              <a:rPr lang="en-US" altLang="en-US"/>
              <a:t>(duplicate : Max of the Mean  expressed gene)</a:t>
            </a:r>
            <a:endParaRPr lang="en-US" altLang="en-US"/>
          </a:p>
        </p:txBody>
      </p:sp>
      <p:sp>
        <p:nvSpPr>
          <p:cNvPr id="11" name="Right Arrow 10"/>
          <p:cNvSpPr/>
          <p:nvPr/>
        </p:nvSpPr>
        <p:spPr>
          <a:xfrm>
            <a:off x="5768340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76600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2</a:t>
            </a:r>
            <a:endParaRPr lang="en-US" altLang="en-US"/>
          </a:p>
        </p:txBody>
      </p:sp>
      <p:sp>
        <p:nvSpPr>
          <p:cNvPr id="13" name="Rectangle 12"/>
          <p:cNvSpPr/>
          <p:nvPr/>
        </p:nvSpPr>
        <p:spPr>
          <a:xfrm>
            <a:off x="646239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Tumor, Recurrent, Metastatic, Normal로 나누어 저장</a:t>
            </a:r>
            <a:endParaRPr lang="en-US" altLang="en-US"/>
          </a:p>
        </p:txBody>
      </p:sp>
      <p:sp>
        <p:nvSpPr>
          <p:cNvPr id="14" name="Right Arrow 13"/>
          <p:cNvSpPr/>
          <p:nvPr/>
        </p:nvSpPr>
        <p:spPr>
          <a:xfrm>
            <a:off x="8954135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2395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3</a:t>
            </a:r>
            <a:endParaRPr lang="en-US" altLang="en-US"/>
          </a:p>
        </p:txBody>
      </p:sp>
      <p:sp>
        <p:nvSpPr>
          <p:cNvPr id="16" name="Rectangle 15"/>
          <p:cNvSpPr/>
          <p:nvPr/>
        </p:nvSpPr>
        <p:spPr>
          <a:xfrm>
            <a:off x="964755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Tumor, Normal만 이용 하나의 데이터 완성</a:t>
            </a:r>
            <a:endParaRPr lang="en-US" altLang="en-US"/>
          </a:p>
          <a:p>
            <a:pPr algn="ctr"/>
            <a:r>
              <a:rPr lang="en-US" altLang="en-US"/>
              <a:t>(</a:t>
            </a:r>
            <a:r>
              <a:rPr lang="en-US" altLang="en-US">
                <a:sym typeface="+mn-ea"/>
              </a:rPr>
              <a:t>20,440 X 1,211)</a:t>
            </a:r>
            <a:endParaRPr lang="en-US" altLang="en-US">
              <a:sym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647555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4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LINCS data</a:t>
            </a:r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91440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LINCS Raw data</a:t>
            </a:r>
            <a:endParaRPr lang="en-US" altLang="en-US"/>
          </a:p>
        </p:txBody>
      </p:sp>
      <p:sp>
        <p:nvSpPr>
          <p:cNvPr id="10" name="Right Arrow 9"/>
          <p:cNvSpPr/>
          <p:nvPr/>
        </p:nvSpPr>
        <p:spPr>
          <a:xfrm>
            <a:off x="2583180" y="33585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1</a:t>
            </a:r>
            <a:endParaRPr lang="en-US" altLang="en-US"/>
          </a:p>
        </p:txBody>
      </p:sp>
      <p:sp>
        <p:nvSpPr>
          <p:cNvPr id="9" name="Rectangle 8"/>
          <p:cNvSpPr/>
          <p:nvPr/>
        </p:nvSpPr>
        <p:spPr>
          <a:xfrm>
            <a:off x="3277235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Withdrawn, duplicate제거</a:t>
            </a:r>
            <a:endParaRPr lang="en-US" altLang="en-US"/>
          </a:p>
          <a:p>
            <a:pPr algn="ctr"/>
            <a:r>
              <a:rPr lang="en-US" altLang="en-US"/>
              <a:t>(duplicate : Max of the Mean expressed gene)</a:t>
            </a:r>
            <a:endParaRPr lang="en-US" altLang="en-US"/>
          </a:p>
        </p:txBody>
      </p:sp>
      <p:sp>
        <p:nvSpPr>
          <p:cNvPr id="11" name="Right Arrow 10"/>
          <p:cNvSpPr/>
          <p:nvPr/>
        </p:nvSpPr>
        <p:spPr>
          <a:xfrm>
            <a:off x="5768975" y="33585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77235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2</a:t>
            </a:r>
            <a:endParaRPr lang="en-US" altLang="en-US"/>
          </a:p>
        </p:txBody>
      </p:sp>
      <p:sp>
        <p:nvSpPr>
          <p:cNvPr id="13" name="Rectangle 12"/>
          <p:cNvSpPr/>
          <p:nvPr/>
        </p:nvSpPr>
        <p:spPr>
          <a:xfrm>
            <a:off x="6463030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중복된 실험 합침.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(같은 Cell line, 같은 농도, 시간)</a:t>
            </a:r>
            <a:endParaRPr lang="en-US" altLang="en-US"/>
          </a:p>
        </p:txBody>
      </p:sp>
      <p:sp>
        <p:nvSpPr>
          <p:cNvPr id="14" name="Right Arrow 13"/>
          <p:cNvSpPr/>
          <p:nvPr/>
        </p:nvSpPr>
        <p:spPr>
          <a:xfrm>
            <a:off x="8954770" y="33585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3030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3</a:t>
            </a:r>
            <a:endParaRPr lang="en-US" altLang="en-US"/>
          </a:p>
        </p:txBody>
      </p:sp>
      <p:sp>
        <p:nvSpPr>
          <p:cNvPr id="16" name="Rectangle 15"/>
          <p:cNvSpPr/>
          <p:nvPr/>
        </p:nvSpPr>
        <p:spPr>
          <a:xfrm>
            <a:off x="9648190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원하는 Cell line에 대한 데이터와 약물별로 따로 저장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(Entrez + mRNA Exp)</a:t>
            </a:r>
            <a:endParaRPr lang="en-US" altLang="en-US">
              <a:sym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648190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Step 4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 TCGA BRCA - 사람수 확인함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LINCS Step2 path : LINCS/Data/</a:t>
            </a:r>
            <a:endParaRPr lang="en-US" altLang="en-US"/>
          </a:p>
          <a:p>
            <a:r>
              <a:rPr lang="en-US" altLang="en-US"/>
              <a:t>LINCS Step3, Step4 path : LINCS/Data1/</a:t>
            </a:r>
            <a:endParaRPr lang="en-US" altLang="en-US"/>
          </a:p>
          <a:p>
            <a:r>
              <a:rPr lang="en-US" altLang="en-US"/>
              <a:t>LINCS GSVA package result :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- LINCS/LINCS/Data1_diff/ssgsea/ (ssgsea result)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- LINCS/LINCS/Data1_diff/ssgsea_zscore/ (zscore result)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- LINCS/LINCS/Data1_diff/Combine_anal_ssgsea_diff.txt (case mean zscore - control mean zscore)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- LINCS/LINCS/Data1_GSVA/lm_result_Summary/lm_result_Summary.txt (linear regression, dose,time 각 기준)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Preprocessing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TCGA ( BRCA (Tumor, Normal) )</a:t>
            </a:r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38163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TCGA</a:t>
            </a:r>
            <a:endParaRPr lang="en-US" altLang="en-US"/>
          </a:p>
          <a:p>
            <a:pPr algn="ctr"/>
            <a:r>
              <a:rPr lang="en-US" altLang="en-US"/>
              <a:t>(20,530 X 1,218 )</a:t>
            </a:r>
            <a:endParaRPr lang="en-US" altLang="en-US"/>
          </a:p>
          <a:p>
            <a:pPr algn="ctr"/>
            <a:r>
              <a:rPr lang="en-US" altLang="en-US"/>
              <a:t>(nrow X ncol)</a:t>
            </a:r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3586480" y="2000885"/>
            <a:ext cx="529844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Row (Gene) QC</a:t>
            </a:r>
            <a:endParaRPr lang="en-US" altLang="en-US"/>
          </a:p>
          <a:p>
            <a:pPr algn="ctr"/>
            <a:r>
              <a:rPr lang="en-US" altLang="en-US"/>
              <a:t>Gene symbol</a:t>
            </a:r>
            <a:endParaRPr lang="en-US" altLang="en-US"/>
          </a:p>
          <a:p>
            <a:pPr algn="ctr"/>
            <a:r>
              <a:rPr lang="en-US" altLang="en-US"/>
              <a:t>WithDrawn, Duplicate Gene</a:t>
            </a:r>
            <a:r>
              <a:rPr lang="en-US" altLang="en-US">
                <a:sym typeface="+mn-ea"/>
              </a:rPr>
              <a:t> 제거</a:t>
            </a:r>
            <a:endParaRPr lang="en-US" altLang="en-US"/>
          </a:p>
          <a:p>
            <a:pPr algn="ctr"/>
            <a:r>
              <a:rPr lang="en-US" altLang="en-US"/>
              <a:t>(WithDrawn : 23개, Duplicate : 67개)</a:t>
            </a:r>
            <a:endParaRPr lang="en-US" altLang="en-US"/>
          </a:p>
        </p:txBody>
      </p:sp>
      <p:sp>
        <p:nvSpPr>
          <p:cNvPr id="9" name="Rectangle 8"/>
          <p:cNvSpPr/>
          <p:nvPr/>
        </p:nvSpPr>
        <p:spPr>
          <a:xfrm>
            <a:off x="9686290" y="300863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LINCS</a:t>
            </a:r>
            <a:endParaRPr lang="en-US" altLang="en-US"/>
          </a:p>
          <a:p>
            <a:pPr algn="ctr"/>
            <a:r>
              <a:rPr lang="en-US" altLang="en-US"/>
              <a:t>(20,440 X 1,211 )</a:t>
            </a:r>
            <a:endParaRPr lang="en-US" altLang="en-US"/>
          </a:p>
          <a:p>
            <a:pPr algn="ctr"/>
            <a:r>
              <a:rPr lang="en-US" altLang="en-US"/>
              <a:t>(nrow X ncol)</a:t>
            </a:r>
            <a:endParaRPr lang="en-US" altLang="en-US"/>
          </a:p>
        </p:txBody>
      </p:sp>
      <p:sp>
        <p:nvSpPr>
          <p:cNvPr id="10" name="Right Arrow 9"/>
          <p:cNvSpPr/>
          <p:nvPr/>
        </p:nvSpPr>
        <p:spPr>
          <a:xfrm>
            <a:off x="2863850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9030970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586480" y="4030345"/>
            <a:ext cx="529844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Column ( Sample )</a:t>
            </a:r>
            <a:endParaRPr lang="en-US" altLang="en-US"/>
          </a:p>
          <a:p>
            <a:pPr algn="ctr"/>
            <a:r>
              <a:rPr lang="en-US" altLang="en-US"/>
              <a:t>Tumor : 1,097</a:t>
            </a:r>
            <a:endParaRPr lang="en-US" altLang="en-US"/>
          </a:p>
          <a:p>
            <a:pPr algn="ctr"/>
            <a:r>
              <a:rPr lang="en-US" altLang="en-US"/>
              <a:t>Normal : 114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LINCS (New)</a:t>
            </a:r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37528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LINCS</a:t>
            </a:r>
            <a:endParaRPr lang="en-US" altLang="en-US"/>
          </a:p>
          <a:p>
            <a:pPr algn="ctr"/>
            <a:r>
              <a:rPr lang="en-US" altLang="en-US"/>
              <a:t>(12,328 X 345,976 )</a:t>
            </a:r>
            <a:endParaRPr lang="en-US" altLang="en-US"/>
          </a:p>
          <a:p>
            <a:pPr algn="ctr"/>
            <a:r>
              <a:rPr lang="en-US" altLang="en-US"/>
              <a:t>(nrow X ncol)</a:t>
            </a:r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3586480" y="2000885"/>
            <a:ext cx="529844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Row (Gene) QC</a:t>
            </a:r>
            <a:endParaRPr lang="en-US" altLang="en-US"/>
          </a:p>
          <a:p>
            <a:pPr algn="ctr"/>
            <a:r>
              <a:rPr lang="en-US" altLang="en-US"/>
              <a:t>Gene symbol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WithDrawn, Duplicate Gene 제거</a:t>
            </a:r>
            <a:endParaRPr lang="en-US" altLang="en-US"/>
          </a:p>
          <a:p>
            <a:pPr algn="ctr"/>
            <a:r>
              <a:rPr lang="en-US" altLang="en-US"/>
              <a:t>(2개 제거, </a:t>
            </a:r>
            <a:r>
              <a:rPr lang="en-US" altLang="en-US">
                <a:sym typeface="+mn-ea"/>
              </a:rPr>
              <a:t>OCLM(Withdrawn),</a:t>
            </a:r>
            <a:r>
              <a:rPr lang="en-US" altLang="en-US"/>
              <a:t> MIA2(duplicate))</a:t>
            </a:r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6517640" y="403479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Column (Gene) QC</a:t>
            </a:r>
            <a:endParaRPr lang="en-US" altLang="en-US"/>
          </a:p>
          <a:p>
            <a:pPr algn="ctr"/>
            <a:r>
              <a:rPr lang="en-US" altLang="en-US"/>
              <a:t>Experimant ID</a:t>
            </a:r>
            <a:endParaRPr lang="en-US" altLang="en-US"/>
          </a:p>
          <a:p>
            <a:pPr algn="ctr"/>
            <a:r>
              <a:rPr lang="en-US" altLang="en-US"/>
              <a:t>중복 약물실험 평균값으로 합침.</a:t>
            </a:r>
            <a:endParaRPr lang="en-US" altLang="en-US"/>
          </a:p>
        </p:txBody>
      </p:sp>
      <p:sp>
        <p:nvSpPr>
          <p:cNvPr id="9" name="Rectangle 8"/>
          <p:cNvSpPr/>
          <p:nvPr/>
        </p:nvSpPr>
        <p:spPr>
          <a:xfrm>
            <a:off x="9686290" y="300863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LINCS</a:t>
            </a:r>
            <a:endParaRPr lang="en-US" altLang="en-US"/>
          </a:p>
          <a:p>
            <a:pPr algn="ctr"/>
            <a:r>
              <a:rPr lang="en-US" altLang="en-US"/>
              <a:t>(12,326 X 74,452 )</a:t>
            </a:r>
            <a:endParaRPr lang="en-US" altLang="en-US"/>
          </a:p>
          <a:p>
            <a:pPr algn="ctr"/>
            <a:r>
              <a:rPr lang="en-US" altLang="en-US"/>
              <a:t>(nrow X ncol)</a:t>
            </a:r>
            <a:endParaRPr lang="en-US" altLang="en-US"/>
          </a:p>
        </p:txBody>
      </p:sp>
      <p:sp>
        <p:nvSpPr>
          <p:cNvPr id="10" name="Right Arrow 9"/>
          <p:cNvSpPr/>
          <p:nvPr/>
        </p:nvSpPr>
        <p:spPr>
          <a:xfrm>
            <a:off x="2867025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9030970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87115" y="403479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Column (Gene) QC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Experimant ID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원하는 Cell line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(251,976)</a:t>
            </a:r>
            <a:endParaRPr lang="en-US" altLang="en-US">
              <a:sym typeface="+mn-ea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6071870" y="4391660"/>
            <a:ext cx="32766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Analysis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TCGA (New)</a:t>
            </a:r>
            <a:endParaRPr lang="en-US" altLang="en-US"/>
          </a:p>
        </p:txBody>
      </p:sp>
      <p:sp>
        <p:nvSpPr>
          <p:cNvPr id="9" name="Rectangle 8"/>
          <p:cNvSpPr/>
          <p:nvPr/>
        </p:nvSpPr>
        <p:spPr>
          <a:xfrm>
            <a:off x="496506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모든 샘플마다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GSVA package이용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ssgsea진행</a:t>
            </a:r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1775460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TCGA</a:t>
            </a:r>
            <a:endParaRPr lang="en-US" altLang="en-US"/>
          </a:p>
        </p:txBody>
      </p:sp>
      <p:sp>
        <p:nvSpPr>
          <p:cNvPr id="10" name="Right Arrow 9"/>
          <p:cNvSpPr/>
          <p:nvPr/>
        </p:nvSpPr>
        <p:spPr>
          <a:xfrm>
            <a:off x="4267200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14768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/>
              <a:t>t-test 분석 (T vs N)</a:t>
            </a:r>
            <a:endParaRPr lang="en-US" altLang="en-US"/>
          </a:p>
          <a:p>
            <a:pPr algn="ctr"/>
            <a:r>
              <a:rPr lang="en-US" altLang="en-US"/>
              <a:t>-log(fdr p-value),</a:t>
            </a:r>
            <a:endParaRPr lang="en-US" altLang="en-US"/>
          </a:p>
          <a:p>
            <a:pPr algn="ctr"/>
            <a:r>
              <a:rPr lang="en-US" altLang="en-US"/>
              <a:t>+ (T &gt; N)</a:t>
            </a:r>
            <a:endParaRPr lang="en-US" altLang="en-US"/>
          </a:p>
          <a:p>
            <a:pPr algn="ctr"/>
            <a:r>
              <a:rPr lang="en-US" altLang="en-US"/>
              <a:t>-  (T &lt; N)</a:t>
            </a:r>
            <a:endParaRPr lang="en-US" altLang="en-US"/>
          </a:p>
        </p:txBody>
      </p:sp>
      <p:sp>
        <p:nvSpPr>
          <p:cNvPr id="8" name="Right Arrow 7"/>
          <p:cNvSpPr/>
          <p:nvPr/>
        </p:nvSpPr>
        <p:spPr>
          <a:xfrm>
            <a:off x="7449820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LINCS (New)</a:t>
            </a:r>
            <a:endParaRPr lang="en-US" altLang="en-US"/>
          </a:p>
        </p:txBody>
      </p:sp>
      <p:sp>
        <p:nvSpPr>
          <p:cNvPr id="9" name="Rectangle 8"/>
          <p:cNvSpPr/>
          <p:nvPr/>
        </p:nvSpPr>
        <p:spPr>
          <a:xfrm>
            <a:off x="3260090" y="199771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약물의 최대 시간, 농도를 이용하여 분석진행</a:t>
            </a:r>
            <a:endParaRPr lang="en-US" altLang="en-US"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485" y="199771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LINCS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(12,326 X 74,452 )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(nrow X ncol)</a:t>
            </a:r>
            <a:endParaRPr lang="en-US" altLang="en-US"/>
          </a:p>
        </p:txBody>
      </p:sp>
      <p:sp>
        <p:nvSpPr>
          <p:cNvPr id="10" name="Right Arrow 9"/>
          <p:cNvSpPr/>
          <p:nvPr/>
        </p:nvSpPr>
        <p:spPr>
          <a:xfrm>
            <a:off x="2562225" y="2354580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442710" y="199771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각 약물마다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GSVA package이용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ssgsea진행 후 TF에 대한 Zscore 계산</a:t>
            </a:r>
            <a:endParaRPr lang="en-US" altLang="en-US"/>
          </a:p>
        </p:txBody>
      </p:sp>
      <p:sp>
        <p:nvSpPr>
          <p:cNvPr id="8" name="Right Arrow 7"/>
          <p:cNvSpPr/>
          <p:nvPr/>
        </p:nvSpPr>
        <p:spPr>
          <a:xfrm>
            <a:off x="5744845" y="2354580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625330" y="1997710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DMSO, 약물사이의 평균 Zscore 값을 이용</a:t>
            </a:r>
            <a:endParaRPr lang="en-US" altLang="en-US"/>
          </a:p>
          <a:p>
            <a:pPr algn="ctr"/>
            <a:r>
              <a:rPr lang="en-US" altLang="en-US" sz="1400">
                <a:sym typeface="+mn-ea"/>
              </a:rPr>
              <a:t>(약물 zscore평균 - DMSO zscore평균)</a:t>
            </a:r>
            <a:endParaRPr lang="en-US" altLang="en-US" sz="1400">
              <a:sym typeface="+mn-ea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8927465" y="2354580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60090" y="44113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GSVA package 이용 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ssgsea분석 진행</a:t>
            </a:r>
            <a:endParaRPr lang="en-US" altLang="en-US"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485" y="44113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LINCS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(12,326 X 74,452 )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(nrow X ncol)</a:t>
            </a:r>
            <a:endParaRPr lang="en-US" altLang="en-US"/>
          </a:p>
        </p:txBody>
      </p:sp>
      <p:sp>
        <p:nvSpPr>
          <p:cNvPr id="12" name="Right Arrow 11"/>
          <p:cNvSpPr/>
          <p:nvPr/>
        </p:nvSpPr>
        <p:spPr>
          <a:xfrm>
            <a:off x="2562225" y="47682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42710" y="4411345"/>
            <a:ext cx="2367280" cy="83629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약물 농도 기준 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시간에 대한 lm slope</a:t>
            </a:r>
            <a:endParaRPr lang="en-US" altLang="en-US">
              <a:sym typeface="+mn-ea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744845" y="47682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625330" y="44113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약물의 시간, 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농도에 대해 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경향성을 보이는 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실험만이용</a:t>
            </a:r>
            <a:endParaRPr lang="en-US" altLang="en-US">
              <a:sym typeface="+mn-ea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927465" y="47682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9850" y="1435100"/>
            <a:ext cx="2367915" cy="49593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>
                <a:solidFill>
                  <a:schemeClr val="tx1"/>
                </a:solidFill>
              </a:rPr>
              <a:t>Step 1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850" y="3838575"/>
            <a:ext cx="2367915" cy="495935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>
                <a:solidFill>
                  <a:schemeClr val="tx1"/>
                </a:solidFill>
              </a:rPr>
              <a:t>Step 2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42710" y="5247640"/>
            <a:ext cx="2367280" cy="83629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약물 시간 기준 </a:t>
            </a:r>
            <a:endParaRPr lang="en-US" altLang="en-US">
              <a:sym typeface="+mn-ea"/>
            </a:endParaRPr>
          </a:p>
          <a:p>
            <a:pPr algn="ctr"/>
            <a:r>
              <a:rPr lang="en-US" altLang="en-US">
                <a:sym typeface="+mn-ea"/>
              </a:rPr>
              <a:t>농도에 대한 lm slope</a:t>
            </a:r>
            <a:endParaRPr lang="en-US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3383280" y="861695"/>
            <a:ext cx="4676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파일경로 정리하기기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참고 </a:t>
            </a:r>
            <a:r>
              <a:rPr lang="" altLang="en-US"/>
              <a:t>(확인해보기)</a:t>
            </a:r>
            <a:endParaRPr lang="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 아래 3개의 약물의 경우 최대 농도, 최대 시간이 없음.</a:t>
            </a:r>
            <a:endParaRPr lang="en-US" altLang="en-US"/>
          </a:p>
          <a:p>
            <a:r>
              <a:rPr lang="en-US" altLang="en-US"/>
              <a:t> 일단 제외하고 진행 (혹은 농도 기준을 제외하고 진행해도 괜찮을 것 같음)</a:t>
            </a:r>
            <a:endParaRPr lang="en-US" alt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1828800" y="2857500"/>
          <a:ext cx="8534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BRD-K68548958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pazopanib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pyrazolanthrone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시간 기준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( 10 d, 24 h)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( 10 d, 24 h 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( 10d, 24 h 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농도 기준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( 25 d, 6 h 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( 40 d, 6 h 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( 25 d, 6 h)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모식도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LINCS_pipe"/>
          <p:cNvPicPr>
            <a:picLocks noChangeAspect="1"/>
          </p:cNvPicPr>
          <p:nvPr/>
        </p:nvPicPr>
        <p:blipFill>
          <a:blip r:embed="rId1"/>
          <a:srcRect l="1408" t="25943" r="1610" b="19847"/>
          <a:stretch>
            <a:fillRect/>
          </a:stretch>
        </p:blipFill>
        <p:spPr>
          <a:xfrm>
            <a:off x="60325" y="1825625"/>
            <a:ext cx="1207135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TCGA mRNA Expression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" altLang="en-US"/>
              <a:t> 유전자 개수가 20000만개정도이고, 소수의 유전자에서 발현값이 크게 나옴 -&gt; heatmap에서 group구별이 힘들고 유전자 이름을 구별하기가 힘듬.</a:t>
            </a:r>
            <a:endParaRPr lang="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 sz="2000"/>
              <a:t>TCGA (TF 519개, row scaling 진행)</a:t>
            </a:r>
            <a:endParaRPr lang="" alt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TCGA_raw_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735" y="1576705"/>
            <a:ext cx="7034784" cy="5276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000"/>
              <a:t>TCGA (t-test fdr p-value cutoff &lt; 0.05, </a:t>
            </a:r>
            <a:r>
              <a:rPr lang="" altLang="en-US" sz="2000"/>
              <a:t>TF </a:t>
            </a:r>
            <a:r>
              <a:rPr lang="en-US" altLang="en-US" sz="2000"/>
              <a:t>481개, row scaling 진행)</a:t>
            </a:r>
            <a:endParaRPr lang="en-US" alt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heatmap_cuotff0_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735" y="1584325"/>
            <a:ext cx="7033895" cy="52755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Linear regression filter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 D</a:t>
            </a:r>
            <a:r>
              <a:rPr lang="en-US" altLang="en-US" baseline="-25000"/>
              <a:t>diff</a:t>
            </a:r>
            <a:r>
              <a:rPr lang="en-US" altLang="en-US"/>
              <a:t>= Drug mean - DMSO mean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- </a:t>
            </a:r>
            <a:r>
              <a:rPr lang="en-US" altLang="en-US">
                <a:sym typeface="+mn-ea"/>
              </a:rPr>
              <a:t>D</a:t>
            </a:r>
            <a:r>
              <a:rPr lang="en-US" altLang="en-US" baseline="-25000">
                <a:sym typeface="+mn-ea"/>
              </a:rPr>
              <a:t>diff</a:t>
            </a:r>
            <a:r>
              <a:rPr lang="en-US" altLang="en-US">
                <a:sym typeface="+mn-ea"/>
              </a:rPr>
              <a:t> &lt; 0 : DMSO에 대비 Drug에서 적게 발현되는 TF</a:t>
            </a:r>
            <a:endParaRPr lang="en-US" altLang="en-US" baseline="-25000">
              <a:sym typeface="+mn-ea"/>
            </a:endParaRPr>
          </a:p>
          <a:p>
            <a:pPr marL="457200" lvl="1" indent="0">
              <a:buNone/>
            </a:pPr>
            <a:r>
              <a:rPr lang="en-US" altLang="en-US">
                <a:sym typeface="+mn-ea"/>
              </a:rPr>
              <a:t>- D</a:t>
            </a:r>
            <a:r>
              <a:rPr lang="en-US" altLang="en-US" baseline="-25000">
                <a:sym typeface="+mn-ea"/>
              </a:rPr>
              <a:t>diff</a:t>
            </a:r>
            <a:r>
              <a:rPr lang="en-US" altLang="en-US">
                <a:sym typeface="+mn-ea"/>
              </a:rPr>
              <a:t> &gt; 0 : DMSO에 대비 Drug에서 많이 발현되는 TF</a:t>
            </a:r>
            <a:endParaRPr lang="en-US" altLang="en-US"/>
          </a:p>
          <a:p>
            <a:r>
              <a:rPr lang="en-US" altLang="en-US"/>
              <a:t> Linear regression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>
                <a:sym typeface="+mn-ea"/>
              </a:rPr>
              <a:t>- Linear regression &lt; 0 (약 처리를 하면 할수록 감소)</a:t>
            </a:r>
            <a:endParaRPr lang="en-US" altLang="en-US" baseline="-25000">
              <a:sym typeface="+mn-ea"/>
            </a:endParaRPr>
          </a:p>
          <a:p>
            <a:pPr marL="457200" lvl="1" indent="0">
              <a:buNone/>
            </a:pPr>
            <a:r>
              <a:rPr lang="en-US" altLang="en-US">
                <a:sym typeface="+mn-ea"/>
              </a:rPr>
              <a:t>- Linear regression &gt; 0 (약 처리를 하면 할수록 증가)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- time, dose별 결과 같은 경향성을 갖는 경우 (아닌경우 제외)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D</a:t>
            </a:r>
            <a:r>
              <a:rPr lang="en-US" altLang="en-US" baseline="-25000">
                <a:sym typeface="+mn-ea"/>
              </a:rPr>
              <a:t>diff</a:t>
            </a:r>
            <a:r>
              <a:rPr lang="en-US" altLang="en-US"/>
              <a:t> and </a:t>
            </a:r>
            <a:r>
              <a:rPr lang="en-US" altLang="en-US">
                <a:sym typeface="+mn-ea"/>
              </a:rPr>
              <a:t>Linear regression 다른 경향성을 갖고 있을 경우 0 처리함.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L-score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20000"/>
              </a:bodyPr>
              <a:p>
                <a:r>
                  <a:rPr lang="en-US" altLang="en-US" sz="1800">
                    <a:sym typeface="+mn-ea"/>
                  </a:rPr>
                  <a:t> L-score </a:t>
                </a:r>
                <a:endParaRPr lang="en-US" altLang="en-US" sz="1800"/>
              </a:p>
              <a:p>
                <a:pPr marL="457200" lvl="1" indent="0">
                  <a:buNone/>
                </a:pPr>
                <a:r>
                  <a:rPr lang="en-US" altLang="en-US" sz="1800">
                    <a:sym typeface="+mn-ea"/>
                  </a:rPr>
                  <a:t>- BRCA t-test -log10(p-value) ( Tumor &gt; Normal : +, Tumor &lt; Normal : - )  = </a:t>
                </a:r>
                <a:r>
                  <a:rPr lang="en-US" altLang="en-US" sz="1800" b="1">
                    <a:solidFill>
                      <a:srgbClr val="FF0000"/>
                    </a:solidFill>
                    <a:sym typeface="+mn-ea"/>
                  </a:rPr>
                  <a:t>TCGA score</a:t>
                </a:r>
                <a:endParaRPr lang="en-US" altLang="en-US" sz="1800"/>
              </a:p>
              <a:p>
                <a:pPr marL="457200" lvl="1" indent="0">
                  <a:buNone/>
                </a:pPr>
                <a:r>
                  <a:rPr lang="en-US" altLang="en-US" sz="1800">
                    <a:sym typeface="+mn-ea"/>
                  </a:rPr>
                  <a:t>- LINCS 약마다 최대 시간, 농도인 실험 결과를 이용하여 TF별 zscore 확인 (DMSO포함 계산)</a:t>
                </a:r>
                <a:endParaRPr lang="en-US" altLang="en-US" sz="1800"/>
              </a:p>
              <a:p>
                <a:pPr marL="457200" lvl="1" indent="0">
                  <a:buNone/>
                </a:pPr>
                <a:r>
                  <a:rPr lang="en-US" altLang="en-US" sz="1800">
                    <a:sym typeface="+mn-ea"/>
                  </a:rPr>
                  <a:t>- 최대 시간, 농도 실험의 평균 zscore  - DMSO 평균 zscore = </a:t>
                </a:r>
                <a:r>
                  <a:rPr lang="en-US" altLang="en-US" sz="1800" b="1">
                    <a:solidFill>
                      <a:srgbClr val="FF0000"/>
                    </a:solidFill>
                    <a:sym typeface="+mn-ea"/>
                  </a:rPr>
                  <a:t>LINCS score</a:t>
                </a:r>
                <a:endParaRPr lang="en-US" altLang="en-US" sz="1800" b="1">
                  <a:solidFill>
                    <a:srgbClr val="FF0000"/>
                  </a:solidFill>
                  <a:sym typeface="+mn-ea"/>
                </a:endParaRPr>
              </a:p>
              <a:p>
                <a:pPr marL="457200" lvl="1" indent="0">
                  <a:buNone/>
                </a:pPr>
                <a:r>
                  <a:rPr lang="en-US" altLang="en-US" sz="1800"/>
                  <a:t>- range : </a:t>
                </a:r>
                <a:r>
                  <a:rPr lang="" altLang="en-US" sz="1800"/>
                  <a:t>-36.8 ~ 21.4</a:t>
                </a:r>
                <a:endParaRPr lang="en-US" altLang="en-US" sz="1800"/>
              </a:p>
              <a:p>
                <a:pPr marL="457200" lvl="1" indent="0">
                  <a:buNone/>
                </a:pPr>
                <a:r>
                  <a:rPr lang="en-US" altLang="en-US" sz="1800">
                    <a:sym typeface="+mn-ea"/>
                  </a:rPr>
                  <a:t>- L-score의 경우 ‘-’ 로 갈수록 약물효과가 좋을수 있다.</a:t>
                </a:r>
                <a:endParaRPr lang="en-US" altLang="en-US" sz="1800">
                  <a:sym typeface="+mn-ea"/>
                </a:endParaRPr>
              </a:p>
              <a:p>
                <a:pPr marL="457200" lvl="1" indent="0">
                  <a:buNone/>
                </a:pPr>
                <a:endParaRPr lang="en-US" altLang="en-US" sz="1800">
                  <a:sym typeface="+mn-ea"/>
                </a:endParaRPr>
              </a:p>
              <a:p>
                <a:pPr marL="457200" lvl="1" indent="0">
                  <a:buNone/>
                </a:pPr>
                <a:endParaRPr lang="en-US" altLang="en-US" sz="180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en-US" sz="18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𝐿</m:t>
                      </m:r>
                      <m:r>
                        <a:rPr lang="en-US" altLang="en-US" sz="18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r>
                        <a:rPr lang="en-US" altLang="en-US" sz="18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𝑆𝑐𝑜𝑟𝑒</m:t>
                      </m:r>
                      <m:r>
                        <a:rPr lang="en-US" altLang="en-US" sz="180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 </m:t>
                      </m:r>
                      <m:f>
                        <m:fPr>
                          <m:ctrlPr>
                            <a:rPr lang="en-US" altLang="en-US" sz="18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naryPr>
                            <m:sub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=</m:t>
                              </m:r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519</m:t>
                              </m:r>
                            </m:sup>
                            <m:e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𝑇</m:t>
                              </m:r>
                              <m:r>
                                <a:rPr lang="en-US" altLang="en-US" i="1" baseline="-2500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×</m:t>
                              </m:r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𝐿</m:t>
                              </m:r>
                              <m:r>
                                <a:rPr lang="en-US" altLang="en-US" i="1" baseline="-2500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  <m:r>
                                <a:rPr lang="en-US" alt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altLang="en-US" sz="18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519</m:t>
                          </m:r>
                        </m:den>
                      </m:f>
                    </m:oMath>
                  </m:oMathPara>
                </a14:m>
                <a:endParaRPr lang="en-US" altLang="en-US" sz="1800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marL="457200" lvl="1" indent="0" algn="l">
                  <a:buNone/>
                </a:pPr>
                <a:endParaRPr lang="en-US" altLang="en-US" sz="1800"/>
              </a:p>
              <a:p>
                <a:pPr marL="457200" lvl="1" indent="0" algn="l">
                  <a:buNone/>
                </a:pPr>
                <a:endParaRPr lang="en-US" altLang="en-US" sz="1800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marL="457200" lvl="1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𝐿</m:t>
                      </m:r>
                      <m:r>
                        <a:rPr lang="en-US" alt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r>
                        <a:rPr lang="en-US" alt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𝑠𝑐𝑜𝑟𝑒</m:t>
                      </m:r>
                      <m:r>
                        <a:rPr lang="en-US" alt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519</m:t>
                          </m:r>
                        </m:sup>
                        <m:e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  <m:r>
                            <a:rPr lang="en-US" altLang="en-US" i="1" baseline="-2500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×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𝐿</m:t>
                          </m:r>
                          <m:r>
                            <a:rPr lang="en-US" altLang="en-US" i="1" baseline="-2500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)</m:t>
                          </m:r>
                        </m:e>
                      </m:nary>
                      <m:r>
                        <a:rPr lang="en-US" alt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f>
                        <m:fPr>
                          <m:ctrlP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519</m:t>
                          </m:r>
                        </m:den>
                      </m:f>
                    </m:oMath>
                  </m:oMathPara>
                </a14:m>
                <a:endParaRPr lang="en-US" altLang="en-US" sz="1800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marL="457200" lvl="1" indent="0" algn="l">
                  <a:buNone/>
                </a:pPr>
                <a:endParaRPr lang="en-US" altLang="en-US" sz="1800"/>
              </a:p>
              <a:p>
                <a:pPr marL="457200" lvl="1" indent="0" algn="r">
                  <a:buNone/>
                </a:pPr>
                <a:r>
                  <a:rPr lang="en-US" altLang="en-US" sz="1600"/>
                  <a:t>                    T</a:t>
                </a:r>
                <a:r>
                  <a:rPr lang="en-US" altLang="en-US" sz="1600" baseline="-25000"/>
                  <a:t>k</a:t>
                </a:r>
                <a:r>
                  <a:rPr lang="en-US" altLang="en-US" sz="1600"/>
                  <a:t> : k-th TF -log(TCGA fdr-pvalue), L</a:t>
                </a:r>
                <a:r>
                  <a:rPr lang="en-US" altLang="en-US" sz="1600" baseline="-25000"/>
                  <a:t>k</a:t>
                </a:r>
                <a:r>
                  <a:rPr lang="en-US" altLang="en-US" sz="1600"/>
                  <a:t> : k-th TF (mean Drug - mean DMSO)</a:t>
                </a:r>
                <a:endParaRPr lang="en-US" altLang="en-US" sz="160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306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L-score histogram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_sco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595" y="1584325"/>
            <a:ext cx="7620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L-score histogram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_sco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595" y="1584325"/>
            <a:ext cx="7620000" cy="4762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98190" y="3435350"/>
            <a:ext cx="2834640" cy="626745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solidFill>
                  <a:srgbClr val="FF3300"/>
                </a:solidFill>
              </a:rPr>
              <a:t>case &gt; control (BRCA)</a:t>
            </a:r>
            <a:endParaRPr lang="en-US" altLang="en-US" b="1">
              <a:solidFill>
                <a:srgbClr val="FF3300"/>
              </a:solidFill>
            </a:endParaRPr>
          </a:p>
          <a:p>
            <a:pPr algn="ctr"/>
            <a:r>
              <a:rPr lang="en-US" altLang="en-US" b="1">
                <a:solidFill>
                  <a:srgbClr val="FF3300"/>
                </a:solidFill>
              </a:rPr>
              <a:t>약물 &lt; DMSO (LINCS)</a:t>
            </a:r>
            <a:endParaRPr lang="en-US" altLang="en-US" b="1">
              <a:solidFill>
                <a:srgbClr val="FF33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27445" y="3435350"/>
            <a:ext cx="2834640" cy="626745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solidFill>
                  <a:srgbClr val="FF3300"/>
                </a:solidFill>
              </a:rPr>
              <a:t>case &gt; control (BRCA)</a:t>
            </a:r>
            <a:endParaRPr lang="en-US" altLang="en-US" b="1">
              <a:solidFill>
                <a:srgbClr val="FF3300"/>
              </a:solidFill>
            </a:endParaRPr>
          </a:p>
          <a:p>
            <a:pPr algn="ctr"/>
            <a:r>
              <a:rPr lang="en-US" altLang="en-US" b="1">
                <a:solidFill>
                  <a:srgbClr val="FF3300"/>
                </a:solidFill>
              </a:rPr>
              <a:t>약물 &gt; DMSO </a:t>
            </a:r>
            <a:r>
              <a:rPr lang="en-US" altLang="en-US" b="1">
                <a:solidFill>
                  <a:srgbClr val="FF3300"/>
                </a:solidFill>
                <a:sym typeface="+mn-ea"/>
              </a:rPr>
              <a:t>(LINCS)</a:t>
            </a:r>
            <a:endParaRPr lang="en-US" altLang="en-US" b="1">
              <a:solidFill>
                <a:srgbClr val="FF33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98190" y="4169410"/>
            <a:ext cx="2834640" cy="626745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solidFill>
                  <a:srgbClr val="FF3300"/>
                </a:solidFill>
              </a:rPr>
              <a:t>case &lt; control (BRCA)</a:t>
            </a:r>
            <a:endParaRPr lang="en-US" altLang="en-US" b="1">
              <a:solidFill>
                <a:srgbClr val="FF3300"/>
              </a:solidFill>
            </a:endParaRPr>
          </a:p>
          <a:p>
            <a:pPr algn="ctr"/>
            <a:r>
              <a:rPr lang="en-US" altLang="en-US" b="1">
                <a:solidFill>
                  <a:srgbClr val="FF3300"/>
                </a:solidFill>
              </a:rPr>
              <a:t>약물 &lt; DMSO</a:t>
            </a:r>
            <a:r>
              <a:rPr lang="en-US" altLang="en-US" b="1">
                <a:solidFill>
                  <a:srgbClr val="FF3300"/>
                </a:solidFill>
                <a:sym typeface="+mn-ea"/>
              </a:rPr>
              <a:t> (LINCS)</a:t>
            </a:r>
            <a:endParaRPr lang="en-US" altLang="en-US" b="1">
              <a:solidFill>
                <a:srgbClr val="FF33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27445" y="4169410"/>
            <a:ext cx="2834640" cy="626745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solidFill>
                  <a:srgbClr val="FF3300"/>
                </a:solidFill>
              </a:rPr>
              <a:t>case &lt; control (BRCA)</a:t>
            </a:r>
            <a:endParaRPr lang="en-US" altLang="en-US" b="1">
              <a:solidFill>
                <a:srgbClr val="FF3300"/>
              </a:solidFill>
            </a:endParaRPr>
          </a:p>
          <a:p>
            <a:pPr algn="ctr"/>
            <a:r>
              <a:rPr lang="en-US" altLang="en-US" b="1">
                <a:solidFill>
                  <a:srgbClr val="FF3300"/>
                </a:solidFill>
              </a:rPr>
              <a:t>약물 &gt; DMSO </a:t>
            </a:r>
            <a:r>
              <a:rPr lang="en-US" altLang="en-US" b="1">
                <a:solidFill>
                  <a:srgbClr val="FF3300"/>
                </a:solidFill>
                <a:sym typeface="+mn-ea"/>
              </a:rPr>
              <a:t>(LINCS)</a:t>
            </a:r>
            <a:endParaRPr lang="en-US" altLang="en-US" b="1">
              <a:solidFill>
                <a:srgbClr val="FF33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921500" y="3865880"/>
            <a:ext cx="1446530" cy="1234440"/>
          </a:xfrm>
          <a:prstGeom prst="ellipse">
            <a:avLst/>
          </a:prstGeom>
          <a:noFill/>
          <a:ln w="38100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992245" y="3069590"/>
            <a:ext cx="1446530" cy="1234440"/>
          </a:xfrm>
          <a:prstGeom prst="ellipse">
            <a:avLst/>
          </a:prstGeom>
          <a:noFill/>
          <a:ln w="38100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Candidate drug</a:t>
            </a:r>
            <a:endParaRPr lang="" altLang="en-US"/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647700" y="1825625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10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" altLang="en-US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Top Candidate drug</a:t>
                      </a:r>
                      <a:endParaRPr lang="" altLang="en-US" sz="2000" b="1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 hMerge="1">
                  <a:tcPr marL="12700" marR="12700" marT="12700" vert="horz" anchor="ctr" anchorCtr="0"/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" altLang="en-US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Bottom Candidate drug</a:t>
                      </a:r>
                      <a:endParaRPr lang="" altLang="en-US" sz="2000" b="1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 hMerge="1">
                  <a:tcPr marL="12700" marR="12700" marT="12700" vert="horz" anchor="ctr" anchorCtr="0"/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Drug n</a:t>
                      </a:r>
                      <a:r>
                        <a:rPr lang="en-US" alt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ame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</a:t>
                      </a:r>
                      <a:r>
                        <a:rPr lang="en-US" alt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score</a:t>
                      </a:r>
                      <a:endParaRPr lang="en-US" sz="1800" b="1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Drug n</a:t>
                      </a:r>
                      <a:r>
                        <a:rPr lang="en-US" alt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ame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</a:t>
                      </a:r>
                      <a:r>
                        <a:rPr lang="en-US" alt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score</a:t>
                      </a:r>
                      <a:endParaRPr lang="en-US" sz="1800" b="1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BGT-226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-36.81219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sch_900776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21.428222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ponatinib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-32.30054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AR-A014418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19.726884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rebastinib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-31.57309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BRD-K73261812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18.416201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doxorubicin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-30.76999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bms-906024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17.700863</a:t>
                      </a:r>
                      <a:endParaRPr lang="en-US" sz="1800" b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Top Candidate drug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BGT-2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2355215"/>
            <a:ext cx="6583680" cy="3291840"/>
          </a:xfrm>
          <a:prstGeom prst="rect">
            <a:avLst/>
          </a:prstGeom>
        </p:spPr>
      </p:pic>
      <p:pic>
        <p:nvPicPr>
          <p:cNvPr id="5" name="Picture 4" descr="ponatini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790" y="2355215"/>
            <a:ext cx="6583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Top Candidate drug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bastini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" y="2355850"/>
            <a:ext cx="6583680" cy="3291840"/>
          </a:xfrm>
          <a:prstGeom prst="rect">
            <a:avLst/>
          </a:prstGeom>
        </p:spPr>
      </p:pic>
      <p:pic>
        <p:nvPicPr>
          <p:cNvPr id="5" name="Picture 4" descr="doxorubic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425" y="2355850"/>
            <a:ext cx="6583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>
                <a:sym typeface="+mn-ea"/>
              </a:rPr>
              <a:t>Bottom</a:t>
            </a:r>
            <a:r>
              <a:rPr lang="en-US" altLang="en-US">
                <a:sym typeface="+mn-ea"/>
              </a:rPr>
              <a:t> Candidate drug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h_9007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" y="2355215"/>
            <a:ext cx="6583680" cy="3291840"/>
          </a:xfrm>
          <a:prstGeom prst="rect">
            <a:avLst/>
          </a:prstGeom>
        </p:spPr>
      </p:pic>
      <p:pic>
        <p:nvPicPr>
          <p:cNvPr id="5" name="Picture 4" descr="AR-A014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790" y="2355215"/>
            <a:ext cx="6583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Bottom Candidate drug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BRD-K732618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" y="2355215"/>
            <a:ext cx="6583680" cy="3291840"/>
          </a:xfrm>
          <a:prstGeom prst="rect">
            <a:avLst/>
          </a:prstGeom>
        </p:spPr>
      </p:pic>
      <p:pic>
        <p:nvPicPr>
          <p:cNvPr id="5" name="Picture 4" descr="bms-906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140" y="2355215"/>
            <a:ext cx="6583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Combine Drug effects</a:t>
            </a:r>
            <a:endParaRPr lang="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Methods</a:t>
            </a:r>
            <a:endParaRPr lang="" alt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" altLang="en-US"/>
              <a:t> 두 약물을 처리했을때 발생할 수 있는 TF 영향 score에서 절댓값이 높은 쪽의 TF를 적용함.</a:t>
            </a:r>
            <a:endParaRPr lang="" altLang="en-US"/>
          </a:p>
          <a:p>
            <a:endParaRPr lang="" alt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1828800" y="2463165"/>
          <a:ext cx="8534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Min</a:t>
                      </a:r>
                      <a:endParaRPr lang="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Max</a:t>
                      </a:r>
                      <a:endParaRPr lang="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L-score</a:t>
                      </a:r>
                      <a:endParaRPr lang="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-36.8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21.4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Combine L-score</a:t>
                      </a:r>
                      <a:endParaRPr lang="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-37.9</a:t>
                      </a:r>
                      <a:endParaRPr lang="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24.7</a:t>
                      </a:r>
                      <a:endParaRPr lang="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1828800" y="4016375"/>
          <a:ext cx="8534400" cy="1914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 sz="1800"/>
                        <a:t>Drug A</a:t>
                      </a:r>
                      <a:endParaRPr lang="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 sz="1800"/>
                        <a:t>Drug B</a:t>
                      </a:r>
                      <a:endParaRPr lang="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 sz="1800"/>
                        <a:t>Combine Score</a:t>
                      </a:r>
                      <a:endParaRPr lang="" altLang="en-US" sz="1800"/>
                    </a:p>
                  </a:txBody>
                  <a:tcPr/>
                </a:tc>
              </a:tr>
              <a:tr h="3905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BGT-226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-122"/>
                        <a:sym typeface="+mn-ea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AMG-232</a:t>
                      </a:r>
                      <a:endParaRPr lang="en-US" sz="1800">
                        <a:solidFill>
                          <a:srgbClr val="000000"/>
                        </a:solidFill>
                        <a:latin typeface="Calibri" panose="020F050202020403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-37.90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BGT-226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ENMD-2076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Calibri" panose="020F050202020403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-37.8</a:t>
                      </a:r>
                      <a:r>
                        <a:rPr lang="" altLang="en-US" sz="1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BGT-226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/>
                        <a:t>GDC-0980</a:t>
                      </a:r>
                      <a:endParaRPr lang="en-US" altLang="en-US" sz="18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-37.83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Combine score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" altLang="en-US"/>
          </a:p>
        </p:txBody>
      </p:sp>
      <p:pic>
        <p:nvPicPr>
          <p:cNvPr id="4" name="Picture 3" descr="Combine_score_hi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1584325"/>
            <a:ext cx="7620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Combine Drug 1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ombine_Drug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584325"/>
            <a:ext cx="7620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Combine Drug </a:t>
            </a:r>
            <a:r>
              <a:rPr lang="" altLang="en-US"/>
              <a:t>2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ombine_drug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491615"/>
            <a:ext cx="7620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Combine Drug </a:t>
            </a:r>
            <a:r>
              <a:rPr lang="" altLang="en-US"/>
              <a:t>3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ombine_drug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584325"/>
            <a:ext cx="7620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내용추가사항 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" altLang="en-US"/>
              <a:t> 약물 3개에 대해서 최대 농도를 제외하고 진행함.</a:t>
            </a:r>
            <a:endParaRPr lang="" altLang="en-US"/>
          </a:p>
          <a:p>
            <a:endParaRPr lang="" altLang="en-US"/>
          </a:p>
          <a:p>
            <a:endParaRPr lang="" altLang="en-US"/>
          </a:p>
          <a:p>
            <a:endParaRPr lang="" altLang="en-US"/>
          </a:p>
          <a:p>
            <a:endParaRPr lang="" altLang="en-US"/>
          </a:p>
          <a:p>
            <a:r>
              <a:rPr lang="" altLang="en-US"/>
              <a:t>모식도에서 enrichment test, zscore에 대한 정보 추가</a:t>
            </a:r>
            <a:endParaRPr lang="" altLang="en-US"/>
          </a:p>
          <a:p>
            <a:r>
              <a:rPr lang="" altLang="en-US"/>
              <a:t>초기 LINCS, TCGA에서 버전이나 샘플수 추가하기</a:t>
            </a:r>
            <a:endParaRPr lang="" altLang="en-US"/>
          </a:p>
          <a:p>
            <a:r>
              <a:rPr lang="" altLang="en-US"/>
              <a:t>ssgsea 7.2 -&gt; 7.4로 적용해서 분석 </a:t>
            </a:r>
            <a:endParaRPr lang="" altLang="en-US"/>
          </a:p>
          <a:p>
            <a:r>
              <a:rPr lang="" altLang="en-US"/>
              <a:t>Scatter plot그릴때 Linear gression 적당한것으로 그려보기 </a:t>
            </a:r>
            <a:endParaRPr lang="" altLang="en-US"/>
          </a:p>
          <a:p>
            <a:r>
              <a:rPr lang="" altLang="en-US"/>
              <a:t>TCGA heatmap추가 (Expression, ssgsea, ssgsea fdr pvalue cutoff된 TF) -&gt; Expression의 경우 2만개이기 때문에 적당하게 나오지 않음. (outlier로인해서) </a:t>
            </a:r>
            <a:endParaRPr lang="" altLang="en-US"/>
          </a:p>
          <a:p>
            <a:r>
              <a:rPr lang="" altLang="en-US"/>
              <a:t>Combine score 구함</a:t>
            </a:r>
            <a:endParaRPr lang="" alt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1828800" y="2169795"/>
          <a:ext cx="8534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BRD-K68548958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pazopanib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pyrazolanthrone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시간 기준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( 10 d, 24 h)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( 10 d, 24 h 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( 10d, 24 h 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농도 기준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( 25 d, 6 h 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( 40 d, 6 h 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( 25 d, 6 h)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4237</Words>
  <Application>WPS Presentation</Application>
  <PresentationFormat>宽屏</PresentationFormat>
  <Paragraphs>391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Arial</vt:lpstr>
      <vt:lpstr>SimSun</vt:lpstr>
      <vt:lpstr>Wingdings</vt:lpstr>
      <vt:lpstr>DejaVu Math TeX Gyre</vt:lpstr>
      <vt:lpstr>Times New Roman</vt:lpstr>
      <vt:lpstr>Arial Black</vt:lpstr>
      <vt:lpstr>BatangChe</vt:lpstr>
      <vt:lpstr>Gubbi</vt:lpstr>
      <vt:lpstr>Noto Sans CJK HK</vt:lpstr>
      <vt:lpstr>微软雅黑</vt:lpstr>
      <vt:lpstr>Arial Unicode MS</vt:lpstr>
      <vt:lpstr>宋体</vt:lpstr>
      <vt:lpstr>Calibri</vt:lpstr>
      <vt:lpstr>Office Theme</vt:lpstr>
      <vt:lpstr>LINCS 정리</vt:lpstr>
      <vt:lpstr>step by step data</vt:lpstr>
      <vt:lpstr>TCGA data</vt:lpstr>
      <vt:lpstr>LINCS data</vt:lpstr>
      <vt:lpstr>PowerPoint 演示文稿</vt:lpstr>
      <vt:lpstr>Preprocessing</vt:lpstr>
      <vt:lpstr>TCGA ( BRCA (Tumor, Normal) )</vt:lpstr>
      <vt:lpstr>LINCS (New)</vt:lpstr>
      <vt:lpstr>Analysis</vt:lpstr>
      <vt:lpstr>TCGA (New)</vt:lpstr>
      <vt:lpstr>LINCS (New)</vt:lpstr>
      <vt:lpstr>참고</vt:lpstr>
      <vt:lpstr>모식도</vt:lpstr>
      <vt:lpstr>PowerPoint 演示文稿</vt:lpstr>
      <vt:lpstr>PowerPoint 演示文稿</vt:lpstr>
      <vt:lpstr>TCGA (t-test fdr p-value cutoff &lt; 0.05, 481개 TF, row scaling 진행)</vt:lpstr>
      <vt:lpstr>Linear regression filter</vt:lpstr>
      <vt:lpstr>L-score</vt:lpstr>
      <vt:lpstr>PowerPoint 演示文稿</vt:lpstr>
      <vt:lpstr>L-score histogram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Combine Drug 1</vt:lpstr>
      <vt:lpstr>Combine Drug 1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jojo9103</dc:creator>
  <cp:lastModifiedBy>jojo9103</cp:lastModifiedBy>
  <cp:revision>37</cp:revision>
  <dcterms:created xsi:type="dcterms:W3CDTF">2021-04-20T10:30:22Z</dcterms:created>
  <dcterms:modified xsi:type="dcterms:W3CDTF">2021-04-20T10:30:22Z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